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Cinzel Bold" charset="1" panose="00000800000000000000"/>
      <p:regular r:id="rId21"/>
    </p:embeddedFont>
    <p:embeddedFont>
      <p:font typeface="Radley" charset="1" panose="00000500000000000000"/>
      <p:regular r:id="rId22"/>
    </p:embeddedFont>
    <p:embeddedFont>
      <p:font typeface="Arsenal" charset="1" panose="000005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notesMasters/notesMaster1.xml" Type="http://schemas.openxmlformats.org/officeDocument/2006/relationships/notesMaster"/><Relationship Id="rId19" Target="theme/theme2.xml" Type="http://schemas.openxmlformats.org/officeDocument/2006/relationships/theme"/><Relationship Id="rId2" Target="presProps.xml" Type="http://schemas.openxmlformats.org/officeDocument/2006/relationships/presProps"/><Relationship Id="rId20" Target="notesSlides/notesSlide1.xml" Type="http://schemas.openxmlformats.org/officeDocument/2006/relationships/notes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notesSlides/notesSlide2.xml" Type="http://schemas.openxmlformats.org/officeDocument/2006/relationships/notesSlide"/><Relationship Id="rId24" Target="fonts/font24.fntdata" Type="http://schemas.openxmlformats.org/officeDocument/2006/relationships/font"/><Relationship Id="rId25" Target="notesSlides/notesSlide3.xml" Type="http://schemas.openxmlformats.org/officeDocument/2006/relationships/notesSlide"/><Relationship Id="rId26" Target="notesSlides/notesSlide4.xml" Type="http://schemas.openxmlformats.org/officeDocument/2006/relationships/notesSlide"/><Relationship Id="rId27" Target="notesSlides/notesSlide5.xml" Type="http://schemas.openxmlformats.org/officeDocument/2006/relationships/notesSlide"/><Relationship Id="rId28" Target="notesSlides/notesSlide6.xml" Type="http://schemas.openxmlformats.org/officeDocument/2006/relationships/notesSlide"/><Relationship Id="rId29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8.xml" Type="http://schemas.openxmlformats.org/officeDocument/2006/relationships/notesSlide"/><Relationship Id="rId31" Target="notesSlides/notesSlide9.xml" Type="http://schemas.openxmlformats.org/officeDocument/2006/relationships/notesSlide"/><Relationship Id="rId32" Target="notesSlides/notesSlide10.xml" Type="http://schemas.openxmlformats.org/officeDocument/2006/relationships/notesSlide"/><Relationship Id="rId33" Target="notesSlides/notesSlide11.xml" Type="http://schemas.openxmlformats.org/officeDocument/2006/relationships/notesSlide"/><Relationship Id="rId34" Target="notesSlides/notesSlide12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45C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00258" y="1088451"/>
            <a:ext cx="14882913" cy="2869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85"/>
              </a:lnSpc>
            </a:pPr>
            <a:r>
              <a:rPr lang="en-US" b="true" sz="11961" spc="-239">
                <a:solidFill>
                  <a:srgbClr val="FF9E7A"/>
                </a:solidFill>
                <a:latin typeface="Cinzel Bold"/>
                <a:ea typeface="Cinzel Bold"/>
                <a:cs typeface="Cinzel Bold"/>
                <a:sym typeface="Cinzel Bold"/>
              </a:rPr>
              <a:t>Sales Intelligence</a:t>
            </a:r>
          </a:p>
          <a:p>
            <a:pPr algn="ctr">
              <a:lnSpc>
                <a:spcPts val="10885"/>
              </a:lnSpc>
            </a:pPr>
            <a:r>
              <a:rPr lang="en-US" b="true" sz="11961" spc="-239">
                <a:solidFill>
                  <a:srgbClr val="FF9E7A"/>
                </a:solidFill>
                <a:latin typeface="Cinzel Bold"/>
                <a:ea typeface="Cinzel Bold"/>
                <a:cs typeface="Cinzel Bold"/>
                <a:sym typeface="Cinzel Bold"/>
              </a:rPr>
              <a:t>Dashboard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3651123" y="3833241"/>
            <a:ext cx="10990707" cy="1884851"/>
            <a:chOff x="0" y="0"/>
            <a:chExt cx="13167360" cy="225813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167361" cy="2258136"/>
            </a:xfrm>
            <a:custGeom>
              <a:avLst/>
              <a:gdLst/>
              <a:ahLst/>
              <a:cxnLst/>
              <a:rect r="r" b="b" t="t" l="l"/>
              <a:pathLst>
                <a:path h="2258136" w="13167361">
                  <a:moveTo>
                    <a:pt x="0" y="0"/>
                  </a:moveTo>
                  <a:lnTo>
                    <a:pt x="13167361" y="0"/>
                  </a:lnTo>
                  <a:lnTo>
                    <a:pt x="13167361" y="2258136"/>
                  </a:lnTo>
                  <a:lnTo>
                    <a:pt x="0" y="22581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371" r="0" b="-3386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13167360" cy="22581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000"/>
                </a:lnSpc>
              </a:pPr>
              <a:r>
                <a:rPr lang="en-US" sz="5000">
                  <a:solidFill>
                    <a:srgbClr val="FFFFFF"/>
                  </a:solidFill>
                  <a:latin typeface="Radley"/>
                  <a:ea typeface="Radley"/>
                  <a:cs typeface="Radley"/>
                  <a:sym typeface="Radley"/>
                </a:rPr>
                <a:t>Power BI Business Intelligence Project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354830" y="5443772"/>
            <a:ext cx="10287000" cy="548640"/>
            <a:chOff x="0" y="0"/>
            <a:chExt cx="13716000" cy="7315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716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5344" r="0" b="-315344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37160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Radley"/>
                  <a:ea typeface="Radley"/>
                  <a:cs typeface="Radley"/>
                  <a:sym typeface="Radley"/>
                </a:rPr>
                <a:t>Sales Performance • Profitability • Budget • Business Insights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053078" y="6574155"/>
            <a:ext cx="5107686" cy="1802130"/>
            <a:chOff x="0" y="0"/>
            <a:chExt cx="6810248" cy="24028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810248" cy="2402840"/>
            </a:xfrm>
            <a:custGeom>
              <a:avLst/>
              <a:gdLst/>
              <a:ahLst/>
              <a:cxnLst/>
              <a:rect r="r" b="b" t="t" l="l"/>
              <a:pathLst>
                <a:path h="2402840" w="6810248">
                  <a:moveTo>
                    <a:pt x="0" y="147828"/>
                  </a:moveTo>
                  <a:cubicBezTo>
                    <a:pt x="0" y="66167"/>
                    <a:pt x="66167" y="0"/>
                    <a:pt x="147828" y="0"/>
                  </a:cubicBezTo>
                  <a:lnTo>
                    <a:pt x="6662420" y="0"/>
                  </a:lnTo>
                  <a:cubicBezTo>
                    <a:pt x="6744081" y="0"/>
                    <a:pt x="6810248" y="66167"/>
                    <a:pt x="6810248" y="147828"/>
                  </a:cubicBezTo>
                  <a:lnTo>
                    <a:pt x="6810248" y="2255012"/>
                  </a:lnTo>
                  <a:cubicBezTo>
                    <a:pt x="6810248" y="2336673"/>
                    <a:pt x="6744081" y="2402840"/>
                    <a:pt x="6662420" y="2402840"/>
                  </a:cubicBezTo>
                  <a:lnTo>
                    <a:pt x="147828" y="2402840"/>
                  </a:lnTo>
                  <a:cubicBezTo>
                    <a:pt x="66167" y="2402840"/>
                    <a:pt x="0" y="2336673"/>
                    <a:pt x="0" y="2255012"/>
                  </a:cubicBezTo>
                  <a:close/>
                </a:path>
              </a:pathLst>
            </a:custGeom>
            <a:solidFill>
              <a:srgbClr val="FF9E7A"/>
            </a:solidFill>
            <a:ln w="19050" cap="sq">
              <a:solidFill>
                <a:srgbClr val="F4F7FB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4474083" y="6858000"/>
            <a:ext cx="4265676" cy="501160"/>
            <a:chOff x="0" y="0"/>
            <a:chExt cx="5687568" cy="66821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687568" cy="668213"/>
            </a:xfrm>
            <a:custGeom>
              <a:avLst/>
              <a:gdLst/>
              <a:ahLst/>
              <a:cxnLst/>
              <a:rect r="r" b="b" t="t" l="l"/>
              <a:pathLst>
                <a:path h="668213" w="5687568">
                  <a:moveTo>
                    <a:pt x="0" y="0"/>
                  </a:moveTo>
                  <a:lnTo>
                    <a:pt x="5687568" y="0"/>
                  </a:lnTo>
                  <a:lnTo>
                    <a:pt x="5687568" y="668213"/>
                  </a:lnTo>
                  <a:lnTo>
                    <a:pt x="0" y="6682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4796" r="0" b="-10690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9525"/>
              <a:ext cx="5687568" cy="6586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D4EDF4"/>
                  </a:solidFill>
                  <a:latin typeface="Radley"/>
                  <a:ea typeface="Radley"/>
                  <a:cs typeface="Radley"/>
                  <a:sym typeface="Radley"/>
                </a:rPr>
                <a:t>PLATFORM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474083" y="7406640"/>
            <a:ext cx="4265676" cy="685800"/>
            <a:chOff x="0" y="0"/>
            <a:chExt cx="5687568" cy="914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87568" cy="914400"/>
            </a:xfrm>
            <a:custGeom>
              <a:avLst/>
              <a:gdLst/>
              <a:ahLst/>
              <a:cxnLst/>
              <a:rect r="r" b="b" t="t" l="l"/>
              <a:pathLst>
                <a:path h="914400" w="5687568">
                  <a:moveTo>
                    <a:pt x="0" y="0"/>
                  </a:moveTo>
                  <a:lnTo>
                    <a:pt x="5687568" y="0"/>
                  </a:lnTo>
                  <a:lnTo>
                    <a:pt x="5687568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196" r="0" b="-7119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9525"/>
              <a:ext cx="5687568" cy="904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MICROSOFT POWER BI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534144" y="6505575"/>
            <a:ext cx="5107686" cy="1802130"/>
            <a:chOff x="0" y="0"/>
            <a:chExt cx="6810248" cy="24028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810248" cy="2402840"/>
            </a:xfrm>
            <a:custGeom>
              <a:avLst/>
              <a:gdLst/>
              <a:ahLst/>
              <a:cxnLst/>
              <a:rect r="r" b="b" t="t" l="l"/>
              <a:pathLst>
                <a:path h="2402840" w="6810248">
                  <a:moveTo>
                    <a:pt x="0" y="147828"/>
                  </a:moveTo>
                  <a:cubicBezTo>
                    <a:pt x="0" y="66167"/>
                    <a:pt x="66167" y="0"/>
                    <a:pt x="147828" y="0"/>
                  </a:cubicBezTo>
                  <a:lnTo>
                    <a:pt x="6662420" y="0"/>
                  </a:lnTo>
                  <a:cubicBezTo>
                    <a:pt x="6744081" y="0"/>
                    <a:pt x="6810248" y="66167"/>
                    <a:pt x="6810248" y="147828"/>
                  </a:cubicBezTo>
                  <a:lnTo>
                    <a:pt x="6810248" y="2255012"/>
                  </a:lnTo>
                  <a:cubicBezTo>
                    <a:pt x="6810248" y="2336673"/>
                    <a:pt x="6744081" y="2402840"/>
                    <a:pt x="6662420" y="2402840"/>
                  </a:cubicBezTo>
                  <a:lnTo>
                    <a:pt x="147828" y="2402840"/>
                  </a:lnTo>
                  <a:cubicBezTo>
                    <a:pt x="66167" y="2402840"/>
                    <a:pt x="0" y="2336673"/>
                    <a:pt x="0" y="2255012"/>
                  </a:cubicBezTo>
                  <a:close/>
                </a:path>
              </a:pathLst>
            </a:custGeom>
            <a:solidFill>
              <a:srgbClr val="FF9E7A"/>
            </a:solidFill>
            <a:ln w="19050" cap="sq">
              <a:solidFill>
                <a:srgbClr val="F4F7FB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9974199" y="6858000"/>
            <a:ext cx="4265676" cy="478718"/>
            <a:chOff x="0" y="0"/>
            <a:chExt cx="5687568" cy="63829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687568" cy="638291"/>
            </a:xfrm>
            <a:custGeom>
              <a:avLst/>
              <a:gdLst/>
              <a:ahLst/>
              <a:cxnLst/>
              <a:rect r="r" b="b" t="t" l="l"/>
              <a:pathLst>
                <a:path h="638291" w="5687568">
                  <a:moveTo>
                    <a:pt x="0" y="0"/>
                  </a:moveTo>
                  <a:lnTo>
                    <a:pt x="5687568" y="0"/>
                  </a:lnTo>
                  <a:lnTo>
                    <a:pt x="5687568" y="638291"/>
                  </a:lnTo>
                  <a:lnTo>
                    <a:pt x="0" y="6382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0646" r="0" b="-116601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5687568" cy="6382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D4EDF4"/>
                  </a:solidFill>
                  <a:latin typeface="Radley"/>
                  <a:ea typeface="Radley"/>
                  <a:cs typeface="Radley"/>
                  <a:sym typeface="Radley"/>
                </a:rPr>
                <a:t>ANALYSIS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974199" y="7406640"/>
            <a:ext cx="4265676" cy="685800"/>
            <a:chOff x="0" y="0"/>
            <a:chExt cx="5687568" cy="914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687568" cy="914400"/>
            </a:xfrm>
            <a:custGeom>
              <a:avLst/>
              <a:gdLst/>
              <a:ahLst/>
              <a:cxnLst/>
              <a:rect r="r" b="b" t="t" l="l"/>
              <a:pathLst>
                <a:path h="914400" w="5687568">
                  <a:moveTo>
                    <a:pt x="0" y="0"/>
                  </a:moveTo>
                  <a:lnTo>
                    <a:pt x="5687568" y="0"/>
                  </a:lnTo>
                  <a:lnTo>
                    <a:pt x="5687568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196" r="0" b="-7119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5687568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19"/>
                </a:lnSpc>
              </a:pPr>
              <a:r>
                <a:rPr lang="en-US" sz="3099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2021–2023 SALES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03020" y="9018270"/>
            <a:ext cx="9601200" cy="480060"/>
            <a:chOff x="0" y="0"/>
            <a:chExt cx="12801600" cy="6400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801600" cy="640080"/>
            </a:xfrm>
            <a:custGeom>
              <a:avLst/>
              <a:gdLst/>
              <a:ahLst/>
              <a:cxnLst/>
              <a:rect r="r" b="b" t="t" l="l"/>
              <a:pathLst>
                <a:path h="64008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12801600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FFFFFF"/>
                  </a:solidFill>
                  <a:latin typeface="Radley"/>
                  <a:ea typeface="Radley"/>
                  <a:cs typeface="Radley"/>
                  <a:sym typeface="Radley"/>
                </a:rPr>
                <a:t>Presented by: Sreya Veerapaneni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45C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390650"/>
            <a:chOff x="0" y="0"/>
            <a:chExt cx="24408790" cy="1854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1854200"/>
            </a:xfrm>
            <a:custGeom>
              <a:avLst/>
              <a:gdLst/>
              <a:ahLst/>
              <a:cxnLst/>
              <a:rect r="r" b="b" t="t" l="l"/>
              <a:pathLst>
                <a:path h="18542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854200"/>
                  </a:lnTo>
                  <a:lnTo>
                    <a:pt x="0" y="1854200"/>
                  </a:lnTo>
                  <a:close/>
                </a:path>
              </a:pathLst>
            </a:custGeom>
            <a:solidFill>
              <a:srgbClr val="D4EDF4"/>
            </a:solidFill>
            <a:ln w="19050" cap="sq">
              <a:solidFill>
                <a:srgbClr val="162746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0"/>
            <a:ext cx="14401800" cy="1371600"/>
            <a:chOff x="0" y="0"/>
            <a:chExt cx="19202400" cy="1828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2024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592" r="0" b="-15459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9202400" cy="1828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spc="-84">
                  <a:solidFill>
                    <a:srgbClr val="2A2E30"/>
                  </a:solidFill>
                  <a:latin typeface="Arsenal"/>
                  <a:ea typeface="Arsenal"/>
                  <a:cs typeface="Arsenal"/>
                  <a:sym typeface="Arsenal"/>
                </a:rPr>
                <a:t>1. Business Context &amp; Objective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088868" y="0"/>
            <a:ext cx="1371600" cy="1371600"/>
            <a:chOff x="0" y="0"/>
            <a:chExt cx="1828800" cy="1828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1828800" cy="1828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520"/>
                </a:lnSpc>
              </a:pPr>
              <a:r>
                <a:rPr lang="en-US" sz="210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2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1508760"/>
            <a:ext cx="16637508" cy="480060"/>
            <a:chOff x="0" y="0"/>
            <a:chExt cx="22183344" cy="6400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183344" cy="640080"/>
            </a:xfrm>
            <a:custGeom>
              <a:avLst/>
              <a:gdLst/>
              <a:ahLst/>
              <a:cxnLst/>
              <a:rect r="r" b="b" t="t" l="l"/>
              <a:pathLst>
                <a:path h="640080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5295" r="0" b="-62529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22183344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Radley"/>
                  <a:ea typeface="Radley"/>
                  <a:cs typeface="Radley"/>
                  <a:sym typeface="Radley"/>
                </a:rPr>
                <a:t>Why the dashboard was built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22960" y="9642348"/>
            <a:ext cx="10972800" cy="411480"/>
            <a:chOff x="0" y="0"/>
            <a:chExt cx="14630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4630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FFFFFF"/>
                  </a:solidFill>
                  <a:latin typeface="Radley"/>
                  <a:ea typeface="Radley"/>
                  <a:cs typeface="Radley"/>
                  <a:sym typeface="Radley"/>
                </a:rPr>
                <a:t>Power BI Sales Intelligence Dashboard • Presentation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22960" y="2263140"/>
            <a:ext cx="8092440" cy="677189"/>
            <a:chOff x="0" y="0"/>
            <a:chExt cx="10789920" cy="90291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789920" cy="902919"/>
            </a:xfrm>
            <a:custGeom>
              <a:avLst/>
              <a:gdLst/>
              <a:ahLst/>
              <a:cxnLst/>
              <a:rect r="r" b="b" t="t" l="l"/>
              <a:pathLst>
                <a:path h="902919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902919"/>
                  </a:lnTo>
                  <a:lnTo>
                    <a:pt x="0" y="9029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7274" r="0" b="-178419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10789920" cy="9029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spc="-66">
                  <a:solidFill>
                    <a:srgbClr val="FFFFFF"/>
                  </a:solidFill>
                  <a:latin typeface="Arsenal"/>
                  <a:ea typeface="Arsenal"/>
                  <a:cs typeface="Arsenal"/>
                  <a:sym typeface="Arsenal"/>
                </a:rPr>
                <a:t>Business challenge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822960" y="3095625"/>
            <a:ext cx="8092440" cy="2857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Radley"/>
                <a:ea typeface="Radley"/>
                <a:cs typeface="Radley"/>
                <a:sym typeface="Radley"/>
              </a:rPr>
              <a:t>Management previously relied on manually prepared Excel reports.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Radley"/>
                <a:ea typeface="Radley"/>
                <a:cs typeface="Radley"/>
                <a:sym typeface="Radley"/>
              </a:rPr>
              <a:t>That made it harder to track sales, compare years, evaluate products and locations, and monitor budget performance.</a:t>
            </a:r>
          </a:p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Radley"/>
                <a:ea typeface="Radley"/>
                <a:cs typeface="Radley"/>
                <a:sym typeface="Radley"/>
              </a:rPr>
              <a:t>The goal is a centralized, interactive Power BI view of business performance.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591675" y="2253615"/>
            <a:ext cx="2625090" cy="512826"/>
            <a:chOff x="0" y="0"/>
            <a:chExt cx="3500120" cy="68376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500120" cy="683768"/>
            </a:xfrm>
            <a:custGeom>
              <a:avLst/>
              <a:gdLst/>
              <a:ahLst/>
              <a:cxnLst/>
              <a:rect r="r" b="b" t="t" l="l"/>
              <a:pathLst>
                <a:path h="683768" w="3500120">
                  <a:moveTo>
                    <a:pt x="0" y="341884"/>
                  </a:moveTo>
                  <a:cubicBezTo>
                    <a:pt x="0" y="153035"/>
                    <a:pt x="153035" y="0"/>
                    <a:pt x="341884" y="0"/>
                  </a:cubicBezTo>
                  <a:lnTo>
                    <a:pt x="3158236" y="0"/>
                  </a:lnTo>
                  <a:cubicBezTo>
                    <a:pt x="3347085" y="0"/>
                    <a:pt x="3500120" y="153035"/>
                    <a:pt x="3500120" y="341884"/>
                  </a:cubicBezTo>
                  <a:cubicBezTo>
                    <a:pt x="3500120" y="530733"/>
                    <a:pt x="3347085" y="683768"/>
                    <a:pt x="3158236" y="683768"/>
                  </a:cubicBezTo>
                  <a:lnTo>
                    <a:pt x="341884" y="683768"/>
                  </a:lnTo>
                  <a:cubicBezTo>
                    <a:pt x="153035" y="683768"/>
                    <a:pt x="0" y="530733"/>
                    <a:pt x="0" y="341884"/>
                  </a:cubicBezTo>
                  <a:close/>
                </a:path>
              </a:pathLst>
            </a:custGeom>
            <a:solidFill>
              <a:srgbClr val="FF9E7A"/>
            </a:solidFill>
            <a:ln w="19050" cap="sq">
              <a:solidFill>
                <a:srgbClr val="1F8985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9601200" y="2263140"/>
            <a:ext cx="2606040" cy="493776"/>
            <a:chOff x="0" y="0"/>
            <a:chExt cx="3474720" cy="65836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474720" cy="658368"/>
            </a:xfrm>
            <a:custGeom>
              <a:avLst/>
              <a:gdLst/>
              <a:ahLst/>
              <a:cxnLst/>
              <a:rect r="r" b="b" t="t" l="l"/>
              <a:pathLst>
                <a:path h="658368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837" r="0" b="-52837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3474720" cy="6678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CORE QUESTION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9601200" y="3017520"/>
            <a:ext cx="7859268" cy="182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FFFFFF"/>
                </a:solidFill>
                <a:latin typeface="Radley"/>
                <a:ea typeface="Radley"/>
                <a:cs typeface="Radley"/>
                <a:sym typeface="Radley"/>
              </a:rPr>
              <a:t>How is the business performing, where are revenue and profit generated, what drives performance, and where should management focus attention?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594056" y="5616416"/>
            <a:ext cx="3772472" cy="1797367"/>
            <a:chOff x="0" y="0"/>
            <a:chExt cx="5029962" cy="239649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029962" cy="2396490"/>
            </a:xfrm>
            <a:custGeom>
              <a:avLst/>
              <a:gdLst/>
              <a:ahLst/>
              <a:cxnLst/>
              <a:rect r="r" b="b" t="t" l="l"/>
              <a:pathLst>
                <a:path h="2396490" w="5029962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4882515" y="0"/>
                  </a:lnTo>
                  <a:cubicBezTo>
                    <a:pt x="4963922" y="0"/>
                    <a:pt x="5029962" y="66040"/>
                    <a:pt x="5029962" y="147447"/>
                  </a:cubicBezTo>
                  <a:lnTo>
                    <a:pt x="5029962" y="2249043"/>
                  </a:lnTo>
                  <a:cubicBezTo>
                    <a:pt x="5029962" y="2330450"/>
                    <a:pt x="4963922" y="2396490"/>
                    <a:pt x="4882515" y="2396490"/>
                  </a:cubicBezTo>
                  <a:lnTo>
                    <a:pt x="147447" y="2396490"/>
                  </a:lnTo>
                  <a:cubicBezTo>
                    <a:pt x="66040" y="2396490"/>
                    <a:pt x="0" y="2330450"/>
                    <a:pt x="0" y="2249043"/>
                  </a:cubicBezTo>
                  <a:close/>
                </a:path>
              </a:pathLst>
            </a:custGeom>
            <a:solidFill>
              <a:srgbClr val="D4EDF4"/>
            </a:solidFill>
            <a:ln w="14288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9944100" y="5829300"/>
            <a:ext cx="3072384" cy="411480"/>
            <a:chOff x="0" y="0"/>
            <a:chExt cx="4096512" cy="5486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096512" cy="548640"/>
            </a:xfrm>
            <a:custGeom>
              <a:avLst/>
              <a:gdLst/>
              <a:ahLst/>
              <a:cxnLst/>
              <a:rect r="r" b="b" t="t" l="l"/>
              <a:pathLst>
                <a:path h="548640" w="4096512">
                  <a:moveTo>
                    <a:pt x="0" y="0"/>
                  </a:moveTo>
                  <a:lnTo>
                    <a:pt x="4096512" y="0"/>
                  </a:lnTo>
                  <a:lnTo>
                    <a:pt x="4096512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488" r="0" b="-9548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4096512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Performance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9944100" y="6318885"/>
            <a:ext cx="3072384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2A2E30"/>
                </a:solidFill>
                <a:latin typeface="Radley"/>
                <a:ea typeface="Radley"/>
                <a:cs typeface="Radley"/>
                <a:sym typeface="Radley"/>
              </a:rPr>
              <a:t>Overall sales &amp; profitability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3695140" y="5616416"/>
            <a:ext cx="3772472" cy="1797367"/>
            <a:chOff x="0" y="0"/>
            <a:chExt cx="5029962" cy="239649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029962" cy="2396490"/>
            </a:xfrm>
            <a:custGeom>
              <a:avLst/>
              <a:gdLst/>
              <a:ahLst/>
              <a:cxnLst/>
              <a:rect r="r" b="b" t="t" l="l"/>
              <a:pathLst>
                <a:path h="2396490" w="5029962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4882515" y="0"/>
                  </a:lnTo>
                  <a:cubicBezTo>
                    <a:pt x="4963922" y="0"/>
                    <a:pt x="5029962" y="66040"/>
                    <a:pt x="5029962" y="147447"/>
                  </a:cubicBezTo>
                  <a:lnTo>
                    <a:pt x="5029962" y="2249043"/>
                  </a:lnTo>
                  <a:cubicBezTo>
                    <a:pt x="5029962" y="2330450"/>
                    <a:pt x="4963922" y="2396490"/>
                    <a:pt x="4882515" y="2396490"/>
                  </a:cubicBezTo>
                  <a:lnTo>
                    <a:pt x="147447" y="2396490"/>
                  </a:lnTo>
                  <a:cubicBezTo>
                    <a:pt x="66040" y="2396490"/>
                    <a:pt x="0" y="2330450"/>
                    <a:pt x="0" y="2249043"/>
                  </a:cubicBezTo>
                  <a:close/>
                </a:path>
              </a:pathLst>
            </a:custGeom>
            <a:solidFill>
              <a:srgbClr val="D4EDF4"/>
            </a:solidFill>
            <a:ln w="14288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4045184" y="5829300"/>
            <a:ext cx="3072384" cy="411480"/>
            <a:chOff x="0" y="0"/>
            <a:chExt cx="4096512" cy="5486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096512" cy="548640"/>
            </a:xfrm>
            <a:custGeom>
              <a:avLst/>
              <a:gdLst/>
              <a:ahLst/>
              <a:cxnLst/>
              <a:rect r="r" b="b" t="t" l="l"/>
              <a:pathLst>
                <a:path h="548640" w="4096512">
                  <a:moveTo>
                    <a:pt x="0" y="0"/>
                  </a:moveTo>
                  <a:lnTo>
                    <a:pt x="4096512" y="0"/>
                  </a:lnTo>
                  <a:lnTo>
                    <a:pt x="4096512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488" r="0" b="-95488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4096512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Growth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4045184" y="6318885"/>
            <a:ext cx="3072384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2A2E30"/>
                </a:solidFill>
                <a:latin typeface="Radley"/>
                <a:ea typeface="Radley"/>
                <a:cs typeface="Radley"/>
                <a:sym typeface="Radley"/>
              </a:rPr>
              <a:t>Year-over-year &amp; time trends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9594056" y="7742396"/>
            <a:ext cx="3772472" cy="1797367"/>
            <a:chOff x="0" y="0"/>
            <a:chExt cx="5029962" cy="239649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029962" cy="2396490"/>
            </a:xfrm>
            <a:custGeom>
              <a:avLst/>
              <a:gdLst/>
              <a:ahLst/>
              <a:cxnLst/>
              <a:rect r="r" b="b" t="t" l="l"/>
              <a:pathLst>
                <a:path h="2396490" w="5029962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4882515" y="0"/>
                  </a:lnTo>
                  <a:cubicBezTo>
                    <a:pt x="4963922" y="0"/>
                    <a:pt x="5029962" y="66040"/>
                    <a:pt x="5029962" y="147447"/>
                  </a:cubicBezTo>
                  <a:lnTo>
                    <a:pt x="5029962" y="2249043"/>
                  </a:lnTo>
                  <a:cubicBezTo>
                    <a:pt x="5029962" y="2330450"/>
                    <a:pt x="4963922" y="2396490"/>
                    <a:pt x="4882515" y="2396490"/>
                  </a:cubicBezTo>
                  <a:lnTo>
                    <a:pt x="147447" y="2396490"/>
                  </a:lnTo>
                  <a:cubicBezTo>
                    <a:pt x="66040" y="2396490"/>
                    <a:pt x="0" y="2330450"/>
                    <a:pt x="0" y="2249043"/>
                  </a:cubicBezTo>
                  <a:close/>
                </a:path>
              </a:pathLst>
            </a:custGeom>
            <a:solidFill>
              <a:srgbClr val="D4EDF4"/>
            </a:solidFill>
            <a:ln w="14288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9944100" y="7955280"/>
            <a:ext cx="3072384" cy="411480"/>
            <a:chOff x="0" y="0"/>
            <a:chExt cx="4096512" cy="5486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096512" cy="548640"/>
            </a:xfrm>
            <a:custGeom>
              <a:avLst/>
              <a:gdLst/>
              <a:ahLst/>
              <a:cxnLst/>
              <a:rect r="r" b="b" t="t" l="l"/>
              <a:pathLst>
                <a:path h="548640" w="4096512">
                  <a:moveTo>
                    <a:pt x="0" y="0"/>
                  </a:moveTo>
                  <a:lnTo>
                    <a:pt x="4096512" y="0"/>
                  </a:lnTo>
                  <a:lnTo>
                    <a:pt x="4096512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488" r="0" b="-95488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4096512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Drivers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9944100" y="8444865"/>
            <a:ext cx="3072384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2A2E30"/>
                </a:solidFill>
                <a:latin typeface="Radley"/>
                <a:ea typeface="Radley"/>
                <a:cs typeface="Radley"/>
                <a:sym typeface="Radley"/>
              </a:rPr>
              <a:t>Products, customers &amp; salespeople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3695140" y="7742396"/>
            <a:ext cx="3772472" cy="1797367"/>
            <a:chOff x="0" y="0"/>
            <a:chExt cx="5029962" cy="239649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029962" cy="2396490"/>
            </a:xfrm>
            <a:custGeom>
              <a:avLst/>
              <a:gdLst/>
              <a:ahLst/>
              <a:cxnLst/>
              <a:rect r="r" b="b" t="t" l="l"/>
              <a:pathLst>
                <a:path h="2396490" w="5029962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4882515" y="0"/>
                  </a:lnTo>
                  <a:cubicBezTo>
                    <a:pt x="4963922" y="0"/>
                    <a:pt x="5029962" y="66040"/>
                    <a:pt x="5029962" y="147447"/>
                  </a:cubicBezTo>
                  <a:lnTo>
                    <a:pt x="5029962" y="2249043"/>
                  </a:lnTo>
                  <a:cubicBezTo>
                    <a:pt x="5029962" y="2330450"/>
                    <a:pt x="4963922" y="2396490"/>
                    <a:pt x="4882515" y="2396490"/>
                  </a:cubicBezTo>
                  <a:lnTo>
                    <a:pt x="147447" y="2396490"/>
                  </a:lnTo>
                  <a:cubicBezTo>
                    <a:pt x="66040" y="2396490"/>
                    <a:pt x="0" y="2330450"/>
                    <a:pt x="0" y="2249043"/>
                  </a:cubicBezTo>
                  <a:close/>
                </a:path>
              </a:pathLst>
            </a:custGeom>
            <a:solidFill>
              <a:srgbClr val="D4EDF4"/>
            </a:solidFill>
            <a:ln w="14288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14045184" y="7955280"/>
            <a:ext cx="3072384" cy="411480"/>
            <a:chOff x="0" y="0"/>
            <a:chExt cx="4096512" cy="5486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096512" cy="548640"/>
            </a:xfrm>
            <a:custGeom>
              <a:avLst/>
              <a:gdLst/>
              <a:ahLst/>
              <a:cxnLst/>
              <a:rect r="r" b="b" t="t" l="l"/>
              <a:pathLst>
                <a:path h="548640" w="4096512">
                  <a:moveTo>
                    <a:pt x="0" y="0"/>
                  </a:moveTo>
                  <a:lnTo>
                    <a:pt x="4096512" y="0"/>
                  </a:lnTo>
                  <a:lnTo>
                    <a:pt x="4096512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488" r="0" b="-95488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"/>
              <a:ext cx="4096512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Coverage</a:t>
              </a: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14045184" y="8444865"/>
            <a:ext cx="3072384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2A2E30"/>
                </a:solidFill>
                <a:latin typeface="Radley"/>
                <a:ea typeface="Radley"/>
                <a:cs typeface="Radley"/>
                <a:sym typeface="Radley"/>
              </a:rPr>
              <a:t>Geography &amp; budget vs actual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45C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390650"/>
            <a:chOff x="0" y="0"/>
            <a:chExt cx="24408790" cy="1854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1854200"/>
            </a:xfrm>
            <a:custGeom>
              <a:avLst/>
              <a:gdLst/>
              <a:ahLst/>
              <a:cxnLst/>
              <a:rect r="r" b="b" t="t" l="l"/>
              <a:pathLst>
                <a:path h="18542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854200"/>
                  </a:lnTo>
                  <a:lnTo>
                    <a:pt x="0" y="1854200"/>
                  </a:lnTo>
                  <a:close/>
                </a:path>
              </a:pathLst>
            </a:custGeom>
            <a:solidFill>
              <a:srgbClr val="D4EDF4"/>
            </a:solidFill>
            <a:ln w="19050" cap="sq">
              <a:solidFill>
                <a:srgbClr val="162746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0"/>
            <a:ext cx="14401800" cy="1371600"/>
            <a:chOff x="0" y="0"/>
            <a:chExt cx="19202400" cy="1828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2024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592" r="0" b="-15459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9202400" cy="1828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spc="-84">
                  <a:solidFill>
                    <a:srgbClr val="345C72"/>
                  </a:solidFill>
                  <a:latin typeface="Arsenal"/>
                  <a:ea typeface="Arsenal"/>
                  <a:cs typeface="Arsenal"/>
                  <a:sym typeface="Arsenal"/>
                </a:rPr>
                <a:t>2. Data Preparation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088868" y="0"/>
            <a:ext cx="1371600" cy="1371600"/>
            <a:chOff x="0" y="0"/>
            <a:chExt cx="1828800" cy="1828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1828800" cy="1828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520"/>
                </a:lnSpc>
              </a:pPr>
              <a:r>
                <a:rPr lang="en-US" sz="210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3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1508760"/>
            <a:ext cx="16637508" cy="480060"/>
            <a:chOff x="0" y="0"/>
            <a:chExt cx="22183344" cy="6400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183344" cy="640080"/>
            </a:xfrm>
            <a:custGeom>
              <a:avLst/>
              <a:gdLst/>
              <a:ahLst/>
              <a:cxnLst/>
              <a:rect r="r" b="b" t="t" l="l"/>
              <a:pathLst>
                <a:path h="640080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5295" r="0" b="-62529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22183344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Radley"/>
                  <a:ea typeface="Radley"/>
                  <a:cs typeface="Radley"/>
                  <a:sym typeface="Radley"/>
                </a:rPr>
                <a:t>Power Query workflow used before analysis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22960" y="9642348"/>
            <a:ext cx="10972800" cy="411480"/>
            <a:chOff x="0" y="0"/>
            <a:chExt cx="14630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4630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FFFFFF"/>
                  </a:solidFill>
                  <a:latin typeface="Radley"/>
                  <a:ea typeface="Radley"/>
                  <a:cs typeface="Radley"/>
                  <a:sym typeface="Radley"/>
                </a:rPr>
                <a:t>Power BI Sales Intelligence Dashboard • Presentation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15816" y="2255996"/>
            <a:ext cx="16651796" cy="1042988"/>
            <a:chOff x="0" y="0"/>
            <a:chExt cx="22202394" cy="13906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202395" cy="1390650"/>
            </a:xfrm>
            <a:custGeom>
              <a:avLst/>
              <a:gdLst/>
              <a:ahLst/>
              <a:cxnLst/>
              <a:rect r="r" b="b" t="t" l="l"/>
              <a:pathLst>
                <a:path h="1390650" w="22202395">
                  <a:moveTo>
                    <a:pt x="0" y="148336"/>
                  </a:moveTo>
                  <a:cubicBezTo>
                    <a:pt x="0" y="66421"/>
                    <a:pt x="66421" y="0"/>
                    <a:pt x="148336" y="0"/>
                  </a:cubicBezTo>
                  <a:lnTo>
                    <a:pt x="22054058" y="0"/>
                  </a:lnTo>
                  <a:cubicBezTo>
                    <a:pt x="22135973" y="0"/>
                    <a:pt x="22202395" y="66421"/>
                    <a:pt x="22202395" y="148336"/>
                  </a:cubicBezTo>
                  <a:lnTo>
                    <a:pt x="22202395" y="1242314"/>
                  </a:lnTo>
                  <a:cubicBezTo>
                    <a:pt x="22202395" y="1324229"/>
                    <a:pt x="22135973" y="1390650"/>
                    <a:pt x="22054058" y="1390650"/>
                  </a:cubicBezTo>
                  <a:lnTo>
                    <a:pt x="148336" y="1390650"/>
                  </a:lnTo>
                  <a:cubicBezTo>
                    <a:pt x="66421" y="1390650"/>
                    <a:pt x="0" y="1324229"/>
                    <a:pt x="0" y="1242314"/>
                  </a:cubicBezTo>
                  <a:close/>
                </a:path>
              </a:pathLst>
            </a:custGeom>
            <a:solidFill>
              <a:srgbClr val="D4EDF4"/>
            </a:solidFill>
            <a:ln w="14288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156335" y="2390775"/>
            <a:ext cx="773430" cy="773430"/>
            <a:chOff x="0" y="0"/>
            <a:chExt cx="1031240" cy="10312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31240" cy="1031240"/>
            </a:xfrm>
            <a:custGeom>
              <a:avLst/>
              <a:gdLst/>
              <a:ahLst/>
              <a:cxnLst/>
              <a:rect r="r" b="b" t="t" l="l"/>
              <a:pathLst>
                <a:path h="1031240" w="1031240">
                  <a:moveTo>
                    <a:pt x="0" y="515620"/>
                  </a:moveTo>
                  <a:cubicBezTo>
                    <a:pt x="0" y="230886"/>
                    <a:pt x="230886" y="0"/>
                    <a:pt x="515620" y="0"/>
                  </a:cubicBezTo>
                  <a:cubicBezTo>
                    <a:pt x="800354" y="0"/>
                    <a:pt x="1031240" y="230886"/>
                    <a:pt x="1031240" y="515620"/>
                  </a:cubicBezTo>
                  <a:cubicBezTo>
                    <a:pt x="1031240" y="800354"/>
                    <a:pt x="800354" y="1031240"/>
                    <a:pt x="515620" y="1031240"/>
                  </a:cubicBezTo>
                  <a:cubicBezTo>
                    <a:pt x="230886" y="1031240"/>
                    <a:pt x="0" y="800354"/>
                    <a:pt x="0" y="515620"/>
                  </a:cubicBezTo>
                  <a:close/>
                </a:path>
              </a:pathLst>
            </a:custGeom>
            <a:solidFill>
              <a:srgbClr val="F46530"/>
            </a:solidFill>
            <a:ln w="19050" cap="sq">
              <a:solidFill>
                <a:srgbClr val="2A69AA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165860" y="2400300"/>
            <a:ext cx="754380" cy="754380"/>
            <a:chOff x="0" y="0"/>
            <a:chExt cx="1005840" cy="10058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9525"/>
              <a:ext cx="1005840" cy="9963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Radley"/>
                  <a:ea typeface="Radley"/>
                  <a:cs typeface="Radley"/>
                  <a:sym typeface="Radley"/>
                </a:rPr>
                <a:t>1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331720" y="2263140"/>
            <a:ext cx="2606040" cy="1028700"/>
            <a:chOff x="0" y="0"/>
            <a:chExt cx="3474720" cy="13716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474720" cy="1371600"/>
            </a:xfrm>
            <a:custGeom>
              <a:avLst/>
              <a:gdLst/>
              <a:ahLst/>
              <a:cxnLst/>
              <a:rect r="r" b="b" t="t" l="l"/>
              <a:pathLst>
                <a:path h="137160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6" t="0" r="-646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9525"/>
              <a:ext cx="3474720" cy="1362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Import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074920" y="2263140"/>
            <a:ext cx="12070080" cy="1028700"/>
            <a:chOff x="0" y="0"/>
            <a:chExt cx="16093440" cy="13716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6093439" cy="1371600"/>
            </a:xfrm>
            <a:custGeom>
              <a:avLst/>
              <a:gdLst/>
              <a:ahLst/>
              <a:cxnLst/>
              <a:rect r="r" b="b" t="t" l="l"/>
              <a:pathLst>
                <a:path h="1371600" w="16093439">
                  <a:moveTo>
                    <a:pt x="0" y="0"/>
                  </a:moveTo>
                  <a:lnTo>
                    <a:pt x="16093439" y="0"/>
                  </a:lnTo>
                  <a:lnTo>
                    <a:pt x="16093439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624" r="0" b="-178624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16093440" cy="1381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Sales, products, locations, customers, salespeople, budgeting and date data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15816" y="3490436"/>
            <a:ext cx="16651796" cy="1042988"/>
            <a:chOff x="0" y="0"/>
            <a:chExt cx="22202394" cy="139065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2202395" cy="1390650"/>
            </a:xfrm>
            <a:custGeom>
              <a:avLst/>
              <a:gdLst/>
              <a:ahLst/>
              <a:cxnLst/>
              <a:rect r="r" b="b" t="t" l="l"/>
              <a:pathLst>
                <a:path h="1390650" w="22202395">
                  <a:moveTo>
                    <a:pt x="0" y="148336"/>
                  </a:moveTo>
                  <a:cubicBezTo>
                    <a:pt x="0" y="66421"/>
                    <a:pt x="66421" y="0"/>
                    <a:pt x="148336" y="0"/>
                  </a:cubicBezTo>
                  <a:lnTo>
                    <a:pt x="22054058" y="0"/>
                  </a:lnTo>
                  <a:cubicBezTo>
                    <a:pt x="22135973" y="0"/>
                    <a:pt x="22202395" y="66421"/>
                    <a:pt x="22202395" y="148336"/>
                  </a:cubicBezTo>
                  <a:lnTo>
                    <a:pt x="22202395" y="1242314"/>
                  </a:lnTo>
                  <a:cubicBezTo>
                    <a:pt x="22202395" y="1324229"/>
                    <a:pt x="22135973" y="1390650"/>
                    <a:pt x="22054058" y="1390650"/>
                  </a:cubicBezTo>
                  <a:lnTo>
                    <a:pt x="148336" y="1390650"/>
                  </a:lnTo>
                  <a:cubicBezTo>
                    <a:pt x="66421" y="1390650"/>
                    <a:pt x="0" y="1324229"/>
                    <a:pt x="0" y="1242314"/>
                  </a:cubicBezTo>
                  <a:close/>
                </a:path>
              </a:pathLst>
            </a:custGeom>
            <a:solidFill>
              <a:srgbClr val="D4EDF4"/>
            </a:solidFill>
            <a:ln w="14288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156335" y="3625215"/>
            <a:ext cx="773430" cy="773430"/>
            <a:chOff x="0" y="0"/>
            <a:chExt cx="1031240" cy="10312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31240" cy="1031240"/>
            </a:xfrm>
            <a:custGeom>
              <a:avLst/>
              <a:gdLst/>
              <a:ahLst/>
              <a:cxnLst/>
              <a:rect r="r" b="b" t="t" l="l"/>
              <a:pathLst>
                <a:path h="1031240" w="1031240">
                  <a:moveTo>
                    <a:pt x="0" y="515620"/>
                  </a:moveTo>
                  <a:cubicBezTo>
                    <a:pt x="0" y="230886"/>
                    <a:pt x="230886" y="0"/>
                    <a:pt x="515620" y="0"/>
                  </a:cubicBezTo>
                  <a:cubicBezTo>
                    <a:pt x="800354" y="0"/>
                    <a:pt x="1031240" y="230886"/>
                    <a:pt x="1031240" y="515620"/>
                  </a:cubicBezTo>
                  <a:cubicBezTo>
                    <a:pt x="1031240" y="800354"/>
                    <a:pt x="800354" y="1031240"/>
                    <a:pt x="515620" y="1031240"/>
                  </a:cubicBezTo>
                  <a:cubicBezTo>
                    <a:pt x="230886" y="1031240"/>
                    <a:pt x="0" y="800354"/>
                    <a:pt x="0" y="515620"/>
                  </a:cubicBezTo>
                  <a:close/>
                </a:path>
              </a:pathLst>
            </a:custGeom>
            <a:solidFill>
              <a:srgbClr val="F46530"/>
            </a:solidFill>
            <a:ln w="19050" cap="sq">
              <a:solidFill>
                <a:srgbClr val="2A69AA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165860" y="3634740"/>
            <a:ext cx="754380" cy="754380"/>
            <a:chOff x="0" y="0"/>
            <a:chExt cx="1005840" cy="10058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9525"/>
              <a:ext cx="1005840" cy="9963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Radley"/>
                  <a:ea typeface="Radley"/>
                  <a:cs typeface="Radley"/>
                  <a:sym typeface="Radley"/>
                </a:rPr>
                <a:t>2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2331720" y="3497580"/>
            <a:ext cx="2606040" cy="1028700"/>
            <a:chOff x="0" y="0"/>
            <a:chExt cx="3474720" cy="13716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474720" cy="1371600"/>
            </a:xfrm>
            <a:custGeom>
              <a:avLst/>
              <a:gdLst/>
              <a:ahLst/>
              <a:cxnLst/>
              <a:rect r="r" b="b" t="t" l="l"/>
              <a:pathLst>
                <a:path h="137160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6" t="0" r="-646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9525"/>
              <a:ext cx="3474720" cy="1362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Inspect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5074920" y="3497580"/>
            <a:ext cx="12070080" cy="1028700"/>
            <a:chOff x="0" y="0"/>
            <a:chExt cx="16093440" cy="13716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6093439" cy="1371600"/>
            </a:xfrm>
            <a:custGeom>
              <a:avLst/>
              <a:gdLst/>
              <a:ahLst/>
              <a:cxnLst/>
              <a:rect r="r" b="b" t="t" l="l"/>
              <a:pathLst>
                <a:path h="1371600" w="16093439">
                  <a:moveTo>
                    <a:pt x="0" y="0"/>
                  </a:moveTo>
                  <a:lnTo>
                    <a:pt x="16093439" y="0"/>
                  </a:lnTo>
                  <a:lnTo>
                    <a:pt x="16093439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624" r="0" b="-178624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16093440" cy="1381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Data types, blanks/nulls, duplicates, keys and unnecessary columns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815816" y="4724876"/>
            <a:ext cx="16651796" cy="1042988"/>
            <a:chOff x="0" y="0"/>
            <a:chExt cx="22202394" cy="139065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2202395" cy="1390650"/>
            </a:xfrm>
            <a:custGeom>
              <a:avLst/>
              <a:gdLst/>
              <a:ahLst/>
              <a:cxnLst/>
              <a:rect r="r" b="b" t="t" l="l"/>
              <a:pathLst>
                <a:path h="1390650" w="22202395">
                  <a:moveTo>
                    <a:pt x="0" y="148336"/>
                  </a:moveTo>
                  <a:cubicBezTo>
                    <a:pt x="0" y="66421"/>
                    <a:pt x="66421" y="0"/>
                    <a:pt x="148336" y="0"/>
                  </a:cubicBezTo>
                  <a:lnTo>
                    <a:pt x="22054058" y="0"/>
                  </a:lnTo>
                  <a:cubicBezTo>
                    <a:pt x="22135973" y="0"/>
                    <a:pt x="22202395" y="66421"/>
                    <a:pt x="22202395" y="148336"/>
                  </a:cubicBezTo>
                  <a:lnTo>
                    <a:pt x="22202395" y="1242314"/>
                  </a:lnTo>
                  <a:cubicBezTo>
                    <a:pt x="22202395" y="1324229"/>
                    <a:pt x="22135973" y="1390650"/>
                    <a:pt x="22054058" y="1390650"/>
                  </a:cubicBezTo>
                  <a:lnTo>
                    <a:pt x="148336" y="1390650"/>
                  </a:lnTo>
                  <a:cubicBezTo>
                    <a:pt x="66421" y="1390650"/>
                    <a:pt x="0" y="1324229"/>
                    <a:pt x="0" y="1242314"/>
                  </a:cubicBezTo>
                  <a:close/>
                </a:path>
              </a:pathLst>
            </a:custGeom>
            <a:solidFill>
              <a:srgbClr val="D4EDF4"/>
            </a:solidFill>
            <a:ln w="14288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156335" y="4859655"/>
            <a:ext cx="773430" cy="773430"/>
            <a:chOff x="0" y="0"/>
            <a:chExt cx="1031240" cy="10312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31240" cy="1031240"/>
            </a:xfrm>
            <a:custGeom>
              <a:avLst/>
              <a:gdLst/>
              <a:ahLst/>
              <a:cxnLst/>
              <a:rect r="r" b="b" t="t" l="l"/>
              <a:pathLst>
                <a:path h="1031240" w="1031240">
                  <a:moveTo>
                    <a:pt x="0" y="515620"/>
                  </a:moveTo>
                  <a:cubicBezTo>
                    <a:pt x="0" y="230886"/>
                    <a:pt x="230886" y="0"/>
                    <a:pt x="515620" y="0"/>
                  </a:cubicBezTo>
                  <a:cubicBezTo>
                    <a:pt x="800354" y="0"/>
                    <a:pt x="1031240" y="230886"/>
                    <a:pt x="1031240" y="515620"/>
                  </a:cubicBezTo>
                  <a:cubicBezTo>
                    <a:pt x="1031240" y="800354"/>
                    <a:pt x="800354" y="1031240"/>
                    <a:pt x="515620" y="1031240"/>
                  </a:cubicBezTo>
                  <a:cubicBezTo>
                    <a:pt x="230886" y="1031240"/>
                    <a:pt x="0" y="800354"/>
                    <a:pt x="0" y="515620"/>
                  </a:cubicBezTo>
                  <a:close/>
                </a:path>
              </a:pathLst>
            </a:custGeom>
            <a:solidFill>
              <a:srgbClr val="F46530"/>
            </a:solidFill>
            <a:ln w="19050" cap="sq">
              <a:solidFill>
                <a:srgbClr val="2A69AA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1165860" y="4869180"/>
            <a:ext cx="754380" cy="754380"/>
            <a:chOff x="0" y="0"/>
            <a:chExt cx="1005840" cy="10058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9525"/>
              <a:ext cx="1005840" cy="9963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Radley"/>
                  <a:ea typeface="Radley"/>
                  <a:cs typeface="Radley"/>
                  <a:sym typeface="Radley"/>
                </a:rPr>
                <a:t>3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2331720" y="4732020"/>
            <a:ext cx="2606040" cy="1028700"/>
            <a:chOff x="0" y="0"/>
            <a:chExt cx="3474720" cy="13716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474720" cy="1371600"/>
            </a:xfrm>
            <a:custGeom>
              <a:avLst/>
              <a:gdLst/>
              <a:ahLst/>
              <a:cxnLst/>
              <a:rect r="r" b="b" t="t" l="l"/>
              <a:pathLst>
                <a:path h="137160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6" t="0" r="-646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9525"/>
              <a:ext cx="3474720" cy="1362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Transform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5074920" y="4732020"/>
            <a:ext cx="12070080" cy="1028700"/>
            <a:chOff x="0" y="0"/>
            <a:chExt cx="16093440" cy="13716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6093439" cy="1371600"/>
            </a:xfrm>
            <a:custGeom>
              <a:avLst/>
              <a:gdLst/>
              <a:ahLst/>
              <a:cxnLst/>
              <a:rect r="r" b="b" t="t" l="l"/>
              <a:pathLst>
                <a:path h="1371600" w="16093439">
                  <a:moveTo>
                    <a:pt x="0" y="0"/>
                  </a:moveTo>
                  <a:lnTo>
                    <a:pt x="16093439" y="0"/>
                  </a:lnTo>
                  <a:lnTo>
                    <a:pt x="16093439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624" r="0" b="-178624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16093440" cy="1381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Rename columns, standardize structures and handle missing values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815816" y="5959316"/>
            <a:ext cx="16651796" cy="1042988"/>
            <a:chOff x="0" y="0"/>
            <a:chExt cx="22202394" cy="139065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2202395" cy="1390650"/>
            </a:xfrm>
            <a:custGeom>
              <a:avLst/>
              <a:gdLst/>
              <a:ahLst/>
              <a:cxnLst/>
              <a:rect r="r" b="b" t="t" l="l"/>
              <a:pathLst>
                <a:path h="1390650" w="22202395">
                  <a:moveTo>
                    <a:pt x="0" y="148336"/>
                  </a:moveTo>
                  <a:cubicBezTo>
                    <a:pt x="0" y="66421"/>
                    <a:pt x="66421" y="0"/>
                    <a:pt x="148336" y="0"/>
                  </a:cubicBezTo>
                  <a:lnTo>
                    <a:pt x="22054058" y="0"/>
                  </a:lnTo>
                  <a:cubicBezTo>
                    <a:pt x="22135973" y="0"/>
                    <a:pt x="22202395" y="66421"/>
                    <a:pt x="22202395" y="148336"/>
                  </a:cubicBezTo>
                  <a:lnTo>
                    <a:pt x="22202395" y="1242314"/>
                  </a:lnTo>
                  <a:cubicBezTo>
                    <a:pt x="22202395" y="1324229"/>
                    <a:pt x="22135973" y="1390650"/>
                    <a:pt x="22054058" y="1390650"/>
                  </a:cubicBezTo>
                  <a:lnTo>
                    <a:pt x="148336" y="1390650"/>
                  </a:lnTo>
                  <a:cubicBezTo>
                    <a:pt x="66421" y="1390650"/>
                    <a:pt x="0" y="1324229"/>
                    <a:pt x="0" y="1242314"/>
                  </a:cubicBezTo>
                  <a:close/>
                </a:path>
              </a:pathLst>
            </a:custGeom>
            <a:solidFill>
              <a:srgbClr val="D4EDF4"/>
            </a:solidFill>
            <a:ln w="14288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1156335" y="6094095"/>
            <a:ext cx="773430" cy="773430"/>
            <a:chOff x="0" y="0"/>
            <a:chExt cx="1031240" cy="10312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31240" cy="1031240"/>
            </a:xfrm>
            <a:custGeom>
              <a:avLst/>
              <a:gdLst/>
              <a:ahLst/>
              <a:cxnLst/>
              <a:rect r="r" b="b" t="t" l="l"/>
              <a:pathLst>
                <a:path h="1031240" w="1031240">
                  <a:moveTo>
                    <a:pt x="0" y="515620"/>
                  </a:moveTo>
                  <a:cubicBezTo>
                    <a:pt x="0" y="230886"/>
                    <a:pt x="230886" y="0"/>
                    <a:pt x="515620" y="0"/>
                  </a:cubicBezTo>
                  <a:cubicBezTo>
                    <a:pt x="800354" y="0"/>
                    <a:pt x="1031240" y="230886"/>
                    <a:pt x="1031240" y="515620"/>
                  </a:cubicBezTo>
                  <a:cubicBezTo>
                    <a:pt x="1031240" y="800354"/>
                    <a:pt x="800354" y="1031240"/>
                    <a:pt x="515620" y="1031240"/>
                  </a:cubicBezTo>
                  <a:cubicBezTo>
                    <a:pt x="230886" y="1031240"/>
                    <a:pt x="0" y="800354"/>
                    <a:pt x="0" y="515620"/>
                  </a:cubicBezTo>
                  <a:close/>
                </a:path>
              </a:pathLst>
            </a:custGeom>
            <a:solidFill>
              <a:srgbClr val="F46530"/>
            </a:solidFill>
            <a:ln w="19050" cap="sq">
              <a:solidFill>
                <a:srgbClr val="2A69AA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1165860" y="6103620"/>
            <a:ext cx="754380" cy="754380"/>
            <a:chOff x="0" y="0"/>
            <a:chExt cx="1005840" cy="10058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9525"/>
              <a:ext cx="1005840" cy="9963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Radley"/>
                  <a:ea typeface="Radley"/>
                  <a:cs typeface="Radley"/>
                  <a:sym typeface="Radley"/>
                </a:rPr>
                <a:t>4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2331720" y="5966460"/>
            <a:ext cx="2606040" cy="1028700"/>
            <a:chOff x="0" y="0"/>
            <a:chExt cx="3474720" cy="13716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474720" cy="1371600"/>
            </a:xfrm>
            <a:custGeom>
              <a:avLst/>
              <a:gdLst/>
              <a:ahLst/>
              <a:cxnLst/>
              <a:rect r="r" b="b" t="t" l="l"/>
              <a:pathLst>
                <a:path h="137160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6" t="0" r="-646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9525"/>
              <a:ext cx="3474720" cy="1362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Append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5074920" y="5966460"/>
            <a:ext cx="12070080" cy="1028700"/>
            <a:chOff x="0" y="0"/>
            <a:chExt cx="16093440" cy="13716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6093439" cy="1371600"/>
            </a:xfrm>
            <a:custGeom>
              <a:avLst/>
              <a:gdLst/>
              <a:ahLst/>
              <a:cxnLst/>
              <a:rect r="r" b="b" t="t" l="l"/>
              <a:pathLst>
                <a:path h="1371600" w="16093439">
                  <a:moveTo>
                    <a:pt x="0" y="0"/>
                  </a:moveTo>
                  <a:lnTo>
                    <a:pt x="16093439" y="0"/>
                  </a:lnTo>
                  <a:lnTo>
                    <a:pt x="16093439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624" r="0" b="-178624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9525"/>
              <a:ext cx="16093440" cy="1381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Combine 2021 + 2022 + 2023 sales into one Fact_Sales table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815816" y="7193756"/>
            <a:ext cx="16651796" cy="1042988"/>
            <a:chOff x="0" y="0"/>
            <a:chExt cx="22202394" cy="139065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2202395" cy="1390650"/>
            </a:xfrm>
            <a:custGeom>
              <a:avLst/>
              <a:gdLst/>
              <a:ahLst/>
              <a:cxnLst/>
              <a:rect r="r" b="b" t="t" l="l"/>
              <a:pathLst>
                <a:path h="1390650" w="22202395">
                  <a:moveTo>
                    <a:pt x="0" y="148336"/>
                  </a:moveTo>
                  <a:cubicBezTo>
                    <a:pt x="0" y="66421"/>
                    <a:pt x="66421" y="0"/>
                    <a:pt x="148336" y="0"/>
                  </a:cubicBezTo>
                  <a:lnTo>
                    <a:pt x="22054058" y="0"/>
                  </a:lnTo>
                  <a:cubicBezTo>
                    <a:pt x="22135973" y="0"/>
                    <a:pt x="22202395" y="66421"/>
                    <a:pt x="22202395" y="148336"/>
                  </a:cubicBezTo>
                  <a:lnTo>
                    <a:pt x="22202395" y="1242314"/>
                  </a:lnTo>
                  <a:cubicBezTo>
                    <a:pt x="22202395" y="1324229"/>
                    <a:pt x="22135973" y="1390650"/>
                    <a:pt x="22054058" y="1390650"/>
                  </a:cubicBezTo>
                  <a:lnTo>
                    <a:pt x="148336" y="1390650"/>
                  </a:lnTo>
                  <a:cubicBezTo>
                    <a:pt x="66421" y="1390650"/>
                    <a:pt x="0" y="1324229"/>
                    <a:pt x="0" y="1242314"/>
                  </a:cubicBezTo>
                  <a:close/>
                </a:path>
              </a:pathLst>
            </a:custGeom>
            <a:solidFill>
              <a:srgbClr val="D4EDF4"/>
            </a:solidFill>
            <a:ln w="14288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1156335" y="7328535"/>
            <a:ext cx="773430" cy="773430"/>
            <a:chOff x="0" y="0"/>
            <a:chExt cx="1031240" cy="103124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031240" cy="1031240"/>
            </a:xfrm>
            <a:custGeom>
              <a:avLst/>
              <a:gdLst/>
              <a:ahLst/>
              <a:cxnLst/>
              <a:rect r="r" b="b" t="t" l="l"/>
              <a:pathLst>
                <a:path h="1031240" w="1031240">
                  <a:moveTo>
                    <a:pt x="0" y="515620"/>
                  </a:moveTo>
                  <a:cubicBezTo>
                    <a:pt x="0" y="230886"/>
                    <a:pt x="230886" y="0"/>
                    <a:pt x="515620" y="0"/>
                  </a:cubicBezTo>
                  <a:cubicBezTo>
                    <a:pt x="800354" y="0"/>
                    <a:pt x="1031240" y="230886"/>
                    <a:pt x="1031240" y="515620"/>
                  </a:cubicBezTo>
                  <a:cubicBezTo>
                    <a:pt x="1031240" y="800354"/>
                    <a:pt x="800354" y="1031240"/>
                    <a:pt x="515620" y="1031240"/>
                  </a:cubicBezTo>
                  <a:cubicBezTo>
                    <a:pt x="230886" y="1031240"/>
                    <a:pt x="0" y="800354"/>
                    <a:pt x="0" y="515620"/>
                  </a:cubicBezTo>
                  <a:close/>
                </a:path>
              </a:pathLst>
            </a:custGeom>
            <a:solidFill>
              <a:srgbClr val="F46530"/>
            </a:solidFill>
            <a:ln w="19050" cap="sq">
              <a:solidFill>
                <a:srgbClr val="2A69AA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1165860" y="7338060"/>
            <a:ext cx="754380" cy="754380"/>
            <a:chOff x="0" y="0"/>
            <a:chExt cx="1005840" cy="100584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9525"/>
              <a:ext cx="1005840" cy="9963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Radley"/>
                  <a:ea typeface="Radley"/>
                  <a:cs typeface="Radley"/>
                  <a:sym typeface="Radley"/>
                </a:rPr>
                <a:t>5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2331720" y="7200900"/>
            <a:ext cx="2606040" cy="1028700"/>
            <a:chOff x="0" y="0"/>
            <a:chExt cx="3474720" cy="13716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474720" cy="1371600"/>
            </a:xfrm>
            <a:custGeom>
              <a:avLst/>
              <a:gdLst/>
              <a:ahLst/>
              <a:cxnLst/>
              <a:rect r="r" b="b" t="t" l="l"/>
              <a:pathLst>
                <a:path h="137160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6" t="0" r="-646" b="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9525"/>
              <a:ext cx="3474720" cy="1362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Validate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5074920" y="7200900"/>
            <a:ext cx="12070080" cy="1028700"/>
            <a:chOff x="0" y="0"/>
            <a:chExt cx="16093440" cy="137160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6093439" cy="1371600"/>
            </a:xfrm>
            <a:custGeom>
              <a:avLst/>
              <a:gdLst/>
              <a:ahLst/>
              <a:cxnLst/>
              <a:rect r="r" b="b" t="t" l="l"/>
              <a:pathLst>
                <a:path h="1371600" w="16093439">
                  <a:moveTo>
                    <a:pt x="0" y="0"/>
                  </a:moveTo>
                  <a:lnTo>
                    <a:pt x="16093439" y="0"/>
                  </a:lnTo>
                  <a:lnTo>
                    <a:pt x="16093439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624" r="0" b="-178624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9525"/>
              <a:ext cx="16093440" cy="1381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Profile the transformed tables before loading the model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3610463" y="8631555"/>
            <a:ext cx="3859530" cy="595122"/>
            <a:chOff x="0" y="0"/>
            <a:chExt cx="5146040" cy="793496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5146040" cy="793496"/>
            </a:xfrm>
            <a:custGeom>
              <a:avLst/>
              <a:gdLst/>
              <a:ahLst/>
              <a:cxnLst/>
              <a:rect r="r" b="b" t="t" l="l"/>
              <a:pathLst>
                <a:path h="793496" w="5146040">
                  <a:moveTo>
                    <a:pt x="0" y="396748"/>
                  </a:moveTo>
                  <a:cubicBezTo>
                    <a:pt x="0" y="177673"/>
                    <a:pt x="177673" y="0"/>
                    <a:pt x="396748" y="0"/>
                  </a:cubicBezTo>
                  <a:lnTo>
                    <a:pt x="4749292" y="0"/>
                  </a:lnTo>
                  <a:cubicBezTo>
                    <a:pt x="4968367" y="0"/>
                    <a:pt x="5146040" y="177673"/>
                    <a:pt x="5146040" y="396748"/>
                  </a:cubicBezTo>
                  <a:cubicBezTo>
                    <a:pt x="5146040" y="615823"/>
                    <a:pt x="4968367" y="793496"/>
                    <a:pt x="4749292" y="793496"/>
                  </a:cubicBezTo>
                  <a:lnTo>
                    <a:pt x="396748" y="793496"/>
                  </a:lnTo>
                  <a:cubicBezTo>
                    <a:pt x="177673" y="793496"/>
                    <a:pt x="0" y="615823"/>
                    <a:pt x="0" y="396748"/>
                  </a:cubicBezTo>
                  <a:close/>
                </a:path>
              </a:pathLst>
            </a:custGeom>
            <a:solidFill>
              <a:srgbClr val="FF9E7A"/>
            </a:solidFill>
            <a:ln w="19050" cap="sq">
              <a:solidFill>
                <a:srgbClr val="1F8985"/>
              </a:solidFill>
              <a:prstDash val="solid"/>
              <a:miter/>
            </a:ln>
          </p:spPr>
        </p:sp>
      </p:grpSp>
      <p:grpSp>
        <p:nvGrpSpPr>
          <p:cNvPr name="Group 83" id="83"/>
          <p:cNvGrpSpPr/>
          <p:nvPr/>
        </p:nvGrpSpPr>
        <p:grpSpPr>
          <a:xfrm rot="0">
            <a:off x="13619988" y="8641080"/>
            <a:ext cx="3840480" cy="576072"/>
            <a:chOff x="0" y="0"/>
            <a:chExt cx="5120640" cy="768096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5120640" cy="768096"/>
            </a:xfrm>
            <a:custGeom>
              <a:avLst/>
              <a:gdLst/>
              <a:ahLst/>
              <a:cxnLst/>
              <a:rect r="r" b="b" t="t" l="l"/>
              <a:pathLst>
                <a:path h="768096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0"/>
              <a:ext cx="5120640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Radley"/>
                  <a:ea typeface="Radley"/>
                  <a:cs typeface="Radley"/>
                  <a:sym typeface="Radley"/>
                </a:rPr>
                <a:t>OUTPUT: FACT_SALES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45C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390650"/>
            <a:chOff x="0" y="0"/>
            <a:chExt cx="24408790" cy="1854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1854200"/>
            </a:xfrm>
            <a:custGeom>
              <a:avLst/>
              <a:gdLst/>
              <a:ahLst/>
              <a:cxnLst/>
              <a:rect r="r" b="b" t="t" l="l"/>
              <a:pathLst>
                <a:path h="18542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854200"/>
                  </a:lnTo>
                  <a:lnTo>
                    <a:pt x="0" y="1854200"/>
                  </a:lnTo>
                  <a:close/>
                </a:path>
              </a:pathLst>
            </a:custGeom>
            <a:solidFill>
              <a:srgbClr val="D4EDF4"/>
            </a:solidFill>
            <a:ln w="19050" cap="sq">
              <a:solidFill>
                <a:srgbClr val="162746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0"/>
            <a:ext cx="14401800" cy="1371600"/>
            <a:chOff x="0" y="0"/>
            <a:chExt cx="19202400" cy="1828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2024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592" r="0" b="-15459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9202400" cy="1828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spc="-84">
                  <a:solidFill>
                    <a:srgbClr val="345C72"/>
                  </a:solidFill>
                  <a:latin typeface="Arsenal"/>
                  <a:ea typeface="Arsenal"/>
                  <a:cs typeface="Arsenal"/>
                  <a:sym typeface="Arsenal"/>
                </a:rPr>
                <a:t>3. Data Model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088868" y="0"/>
            <a:ext cx="1371600" cy="1371600"/>
            <a:chOff x="0" y="0"/>
            <a:chExt cx="1828800" cy="1828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1828800" cy="1828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520"/>
                </a:lnSpc>
              </a:pPr>
              <a:r>
                <a:rPr lang="en-US" sz="210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4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1508760"/>
            <a:ext cx="16637508" cy="480060"/>
            <a:chOff x="0" y="0"/>
            <a:chExt cx="22183344" cy="6400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183344" cy="640080"/>
            </a:xfrm>
            <a:custGeom>
              <a:avLst/>
              <a:gdLst/>
              <a:ahLst/>
              <a:cxnLst/>
              <a:rect r="r" b="b" t="t" l="l"/>
              <a:pathLst>
                <a:path h="640080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5295" r="0" b="-62529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22183344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Radley"/>
                  <a:ea typeface="Radley"/>
                  <a:cs typeface="Radley"/>
                  <a:sym typeface="Radley"/>
                </a:rPr>
                <a:t>Star-schema approach for scalable analysis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22960" y="9642348"/>
            <a:ext cx="10972800" cy="411480"/>
            <a:chOff x="0" y="0"/>
            <a:chExt cx="14630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4630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FFFFFF"/>
                  </a:solidFill>
                  <a:latin typeface="Radley"/>
                  <a:ea typeface="Radley"/>
                  <a:cs typeface="Radley"/>
                  <a:sym typeface="Radley"/>
                </a:rPr>
                <a:t>Power BI Sales Intelligence Dashboard • Presentation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 rot="2678280">
            <a:off x="4481236" y="3865245"/>
            <a:ext cx="3066459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 rot="8110919">
            <a:off x="10747467" y="3865245"/>
            <a:ext cx="3056715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rot="-2784300">
            <a:off x="4432297" y="6882765"/>
            <a:ext cx="3164338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 rot="2795100">
            <a:off x="10698375" y="6882765"/>
            <a:ext cx="3154890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rot="5326260">
            <a:off x="8478507" y="6814185"/>
            <a:ext cx="1331900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1357312" y="2248852"/>
            <a:ext cx="3594735" cy="1125855"/>
            <a:chOff x="0" y="0"/>
            <a:chExt cx="4792980" cy="15011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792980" cy="1501140"/>
            </a:xfrm>
            <a:custGeom>
              <a:avLst/>
              <a:gdLst/>
              <a:ahLst/>
              <a:cxnLst/>
              <a:rect r="r" b="b" t="t" l="l"/>
              <a:pathLst>
                <a:path h="1501140" w="4792980">
                  <a:moveTo>
                    <a:pt x="0" y="150114"/>
                  </a:moveTo>
                  <a:cubicBezTo>
                    <a:pt x="0" y="67183"/>
                    <a:pt x="67183" y="0"/>
                    <a:pt x="150114" y="0"/>
                  </a:cubicBezTo>
                  <a:lnTo>
                    <a:pt x="4642866" y="0"/>
                  </a:lnTo>
                  <a:cubicBezTo>
                    <a:pt x="4725797" y="0"/>
                    <a:pt x="4792980" y="67183"/>
                    <a:pt x="4792980" y="150114"/>
                  </a:cubicBezTo>
                  <a:lnTo>
                    <a:pt x="4792980" y="1351026"/>
                  </a:lnTo>
                  <a:cubicBezTo>
                    <a:pt x="4792980" y="1433957"/>
                    <a:pt x="4725797" y="1501140"/>
                    <a:pt x="4642866" y="1501140"/>
                  </a:cubicBezTo>
                  <a:lnTo>
                    <a:pt x="150114" y="1501140"/>
                  </a:lnTo>
                  <a:cubicBezTo>
                    <a:pt x="67183" y="1501140"/>
                    <a:pt x="0" y="1433957"/>
                    <a:pt x="0" y="1351026"/>
                  </a:cubicBezTo>
                  <a:close/>
                </a:path>
              </a:pathLst>
            </a:custGeom>
            <a:solidFill>
              <a:srgbClr val="F46530"/>
            </a:solidFill>
            <a:ln w="28575" cap="sq">
              <a:solidFill>
                <a:srgbClr val="2A69AA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371600" y="2263140"/>
            <a:ext cx="3566160" cy="1097280"/>
            <a:chOff x="0" y="0"/>
            <a:chExt cx="4754880" cy="14630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7548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26" r="0" b="-1332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9525"/>
              <a:ext cx="4754880" cy="14535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Radley"/>
                  <a:ea typeface="Radley"/>
                  <a:cs typeface="Radley"/>
                  <a:sym typeface="Radley"/>
                </a:rPr>
                <a:t>Dim_Product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331380" y="2248852"/>
            <a:ext cx="3594735" cy="1125855"/>
            <a:chOff x="0" y="0"/>
            <a:chExt cx="4792980" cy="15011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792980" cy="1501140"/>
            </a:xfrm>
            <a:custGeom>
              <a:avLst/>
              <a:gdLst/>
              <a:ahLst/>
              <a:cxnLst/>
              <a:rect r="r" b="b" t="t" l="l"/>
              <a:pathLst>
                <a:path h="1501140" w="4792980">
                  <a:moveTo>
                    <a:pt x="0" y="150114"/>
                  </a:moveTo>
                  <a:cubicBezTo>
                    <a:pt x="0" y="67183"/>
                    <a:pt x="67183" y="0"/>
                    <a:pt x="150114" y="0"/>
                  </a:cubicBezTo>
                  <a:lnTo>
                    <a:pt x="4642866" y="0"/>
                  </a:lnTo>
                  <a:cubicBezTo>
                    <a:pt x="4725797" y="0"/>
                    <a:pt x="4792980" y="67183"/>
                    <a:pt x="4792980" y="150114"/>
                  </a:cubicBezTo>
                  <a:lnTo>
                    <a:pt x="4792980" y="1351026"/>
                  </a:lnTo>
                  <a:cubicBezTo>
                    <a:pt x="4792980" y="1433957"/>
                    <a:pt x="4725797" y="1501140"/>
                    <a:pt x="4642866" y="1501140"/>
                  </a:cubicBezTo>
                  <a:lnTo>
                    <a:pt x="150114" y="1501140"/>
                  </a:lnTo>
                  <a:cubicBezTo>
                    <a:pt x="67183" y="1501140"/>
                    <a:pt x="0" y="1433957"/>
                    <a:pt x="0" y="1351026"/>
                  </a:cubicBezTo>
                  <a:close/>
                </a:path>
              </a:pathLst>
            </a:custGeom>
            <a:solidFill>
              <a:srgbClr val="F46530"/>
            </a:solidFill>
            <a:ln w="28575" cap="sq">
              <a:solidFill>
                <a:srgbClr val="1F8985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13345668" y="2263140"/>
            <a:ext cx="3566160" cy="1097280"/>
            <a:chOff x="0" y="0"/>
            <a:chExt cx="4754880" cy="14630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7548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26" r="0" b="-13326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9525"/>
              <a:ext cx="4754880" cy="14535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Radley"/>
                  <a:ea typeface="Radley"/>
                  <a:cs typeface="Radley"/>
                  <a:sym typeface="Radley"/>
                </a:rPr>
                <a:t>Dim_Customer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357312" y="7460932"/>
            <a:ext cx="3594735" cy="1125855"/>
            <a:chOff x="0" y="0"/>
            <a:chExt cx="4792980" cy="15011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792980" cy="1501140"/>
            </a:xfrm>
            <a:custGeom>
              <a:avLst/>
              <a:gdLst/>
              <a:ahLst/>
              <a:cxnLst/>
              <a:rect r="r" b="b" t="t" l="l"/>
              <a:pathLst>
                <a:path h="1501140" w="4792980">
                  <a:moveTo>
                    <a:pt x="0" y="150114"/>
                  </a:moveTo>
                  <a:cubicBezTo>
                    <a:pt x="0" y="67183"/>
                    <a:pt x="67183" y="0"/>
                    <a:pt x="150114" y="0"/>
                  </a:cubicBezTo>
                  <a:lnTo>
                    <a:pt x="4642866" y="0"/>
                  </a:lnTo>
                  <a:cubicBezTo>
                    <a:pt x="4725797" y="0"/>
                    <a:pt x="4792980" y="67183"/>
                    <a:pt x="4792980" y="150114"/>
                  </a:cubicBezTo>
                  <a:lnTo>
                    <a:pt x="4792980" y="1351026"/>
                  </a:lnTo>
                  <a:cubicBezTo>
                    <a:pt x="4792980" y="1433957"/>
                    <a:pt x="4725797" y="1501140"/>
                    <a:pt x="4642866" y="1501140"/>
                  </a:cubicBezTo>
                  <a:lnTo>
                    <a:pt x="150114" y="1501140"/>
                  </a:lnTo>
                  <a:cubicBezTo>
                    <a:pt x="67183" y="1501140"/>
                    <a:pt x="0" y="1433957"/>
                    <a:pt x="0" y="1351026"/>
                  </a:cubicBezTo>
                  <a:close/>
                </a:path>
              </a:pathLst>
            </a:custGeom>
            <a:solidFill>
              <a:srgbClr val="F46530"/>
            </a:solidFill>
            <a:ln w="28575" cap="sq">
              <a:solidFill>
                <a:srgbClr val="E69138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371600" y="7475220"/>
            <a:ext cx="3566160" cy="1097280"/>
            <a:chOff x="0" y="0"/>
            <a:chExt cx="4754880" cy="14630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7548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26" r="0" b="-13326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9525"/>
              <a:ext cx="4754880" cy="14535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Radley"/>
                  <a:ea typeface="Radley"/>
                  <a:cs typeface="Radley"/>
                  <a:sym typeface="Radley"/>
                </a:rPr>
                <a:t>Dim_Location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3331380" y="7460932"/>
            <a:ext cx="3594735" cy="1125855"/>
            <a:chOff x="0" y="0"/>
            <a:chExt cx="4792980" cy="15011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792980" cy="1501140"/>
            </a:xfrm>
            <a:custGeom>
              <a:avLst/>
              <a:gdLst/>
              <a:ahLst/>
              <a:cxnLst/>
              <a:rect r="r" b="b" t="t" l="l"/>
              <a:pathLst>
                <a:path h="1501140" w="4792980">
                  <a:moveTo>
                    <a:pt x="0" y="150114"/>
                  </a:moveTo>
                  <a:cubicBezTo>
                    <a:pt x="0" y="67183"/>
                    <a:pt x="67183" y="0"/>
                    <a:pt x="150114" y="0"/>
                  </a:cubicBezTo>
                  <a:lnTo>
                    <a:pt x="4642866" y="0"/>
                  </a:lnTo>
                  <a:cubicBezTo>
                    <a:pt x="4725797" y="0"/>
                    <a:pt x="4792980" y="67183"/>
                    <a:pt x="4792980" y="150114"/>
                  </a:cubicBezTo>
                  <a:lnTo>
                    <a:pt x="4792980" y="1351026"/>
                  </a:lnTo>
                  <a:cubicBezTo>
                    <a:pt x="4792980" y="1433957"/>
                    <a:pt x="4725797" y="1501140"/>
                    <a:pt x="4642866" y="1501140"/>
                  </a:cubicBezTo>
                  <a:lnTo>
                    <a:pt x="150114" y="1501140"/>
                  </a:lnTo>
                  <a:cubicBezTo>
                    <a:pt x="67183" y="1501140"/>
                    <a:pt x="0" y="1433957"/>
                    <a:pt x="0" y="1351026"/>
                  </a:cubicBezTo>
                  <a:close/>
                </a:path>
              </a:pathLst>
            </a:custGeom>
            <a:solidFill>
              <a:srgbClr val="F46530"/>
            </a:solidFill>
            <a:ln w="28575" cap="sq">
              <a:solidFill>
                <a:srgbClr val="2E8B57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3345668" y="7475220"/>
            <a:ext cx="3566160" cy="1097280"/>
            <a:chOff x="0" y="0"/>
            <a:chExt cx="4754880" cy="14630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7548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26" r="0" b="-13326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9525"/>
              <a:ext cx="4754880" cy="14535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Radley"/>
                  <a:ea typeface="Radley"/>
                  <a:cs typeface="Radley"/>
                  <a:sym typeface="Radley"/>
                </a:rPr>
                <a:t>Dim_Salesperson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347090" y="7460932"/>
            <a:ext cx="3594735" cy="1125855"/>
            <a:chOff x="0" y="0"/>
            <a:chExt cx="4792980" cy="15011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792980" cy="1501140"/>
            </a:xfrm>
            <a:custGeom>
              <a:avLst/>
              <a:gdLst/>
              <a:ahLst/>
              <a:cxnLst/>
              <a:rect r="r" b="b" t="t" l="l"/>
              <a:pathLst>
                <a:path h="1501140" w="4792980">
                  <a:moveTo>
                    <a:pt x="0" y="150114"/>
                  </a:moveTo>
                  <a:cubicBezTo>
                    <a:pt x="0" y="67183"/>
                    <a:pt x="67183" y="0"/>
                    <a:pt x="150114" y="0"/>
                  </a:cubicBezTo>
                  <a:lnTo>
                    <a:pt x="4642866" y="0"/>
                  </a:lnTo>
                  <a:cubicBezTo>
                    <a:pt x="4725797" y="0"/>
                    <a:pt x="4792980" y="67183"/>
                    <a:pt x="4792980" y="150114"/>
                  </a:cubicBezTo>
                  <a:lnTo>
                    <a:pt x="4792980" y="1351026"/>
                  </a:lnTo>
                  <a:cubicBezTo>
                    <a:pt x="4792980" y="1433957"/>
                    <a:pt x="4725797" y="1501140"/>
                    <a:pt x="4642866" y="1501140"/>
                  </a:cubicBezTo>
                  <a:lnTo>
                    <a:pt x="150114" y="1501140"/>
                  </a:lnTo>
                  <a:cubicBezTo>
                    <a:pt x="67183" y="1501140"/>
                    <a:pt x="0" y="1433957"/>
                    <a:pt x="0" y="1351026"/>
                  </a:cubicBezTo>
                  <a:close/>
                </a:path>
              </a:pathLst>
            </a:custGeom>
            <a:solidFill>
              <a:srgbClr val="F46530"/>
            </a:solidFill>
            <a:ln w="28575" cap="sq">
              <a:solidFill>
                <a:srgbClr val="2A69AA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7361377" y="7475220"/>
            <a:ext cx="3566160" cy="1097280"/>
            <a:chOff x="0" y="0"/>
            <a:chExt cx="4754880" cy="14630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7548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26" r="0" b="-13326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9525"/>
              <a:ext cx="4754880" cy="14535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Radley"/>
                  <a:ea typeface="Radley"/>
                  <a:cs typeface="Radley"/>
                  <a:sym typeface="Radley"/>
                </a:rPr>
                <a:t>Dim_Date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7077532" y="4516755"/>
            <a:ext cx="4133850" cy="1664970"/>
            <a:chOff x="0" y="0"/>
            <a:chExt cx="5511800" cy="221996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511800" cy="2219960"/>
            </a:xfrm>
            <a:custGeom>
              <a:avLst/>
              <a:gdLst/>
              <a:ahLst/>
              <a:cxnLst/>
              <a:rect r="r" b="b" t="t" l="l"/>
              <a:pathLst>
                <a:path h="2219960" w="5511800">
                  <a:moveTo>
                    <a:pt x="0" y="185039"/>
                  </a:moveTo>
                  <a:cubicBezTo>
                    <a:pt x="0" y="82804"/>
                    <a:pt x="82804" y="0"/>
                    <a:pt x="185039" y="0"/>
                  </a:cubicBezTo>
                  <a:lnTo>
                    <a:pt x="5326761" y="0"/>
                  </a:lnTo>
                  <a:cubicBezTo>
                    <a:pt x="5428996" y="0"/>
                    <a:pt x="5511800" y="82804"/>
                    <a:pt x="5511800" y="185039"/>
                  </a:cubicBezTo>
                  <a:lnTo>
                    <a:pt x="5511800" y="2034921"/>
                  </a:lnTo>
                  <a:cubicBezTo>
                    <a:pt x="5511800" y="2137029"/>
                    <a:pt x="5428996" y="2219960"/>
                    <a:pt x="5326761" y="2219960"/>
                  </a:cubicBezTo>
                  <a:lnTo>
                    <a:pt x="185039" y="2219960"/>
                  </a:lnTo>
                  <a:cubicBezTo>
                    <a:pt x="82804" y="2219960"/>
                    <a:pt x="0" y="2137156"/>
                    <a:pt x="0" y="2034921"/>
                  </a:cubicBezTo>
                  <a:close/>
                </a:path>
              </a:pathLst>
            </a:custGeom>
            <a:solidFill>
              <a:srgbClr val="FF9E7A"/>
            </a:solidFill>
            <a:ln w="19050" cap="sq">
              <a:solidFill>
                <a:srgbClr val="162746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7087057" y="4690872"/>
            <a:ext cx="4114800" cy="685800"/>
            <a:chOff x="0" y="0"/>
            <a:chExt cx="5486400" cy="9144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486400" cy="914400"/>
            </a:xfrm>
            <a:custGeom>
              <a:avLst/>
              <a:gdLst/>
              <a:ahLst/>
              <a:cxnLst/>
              <a:rect r="r" b="b" t="t" l="l"/>
              <a:pathLst>
                <a:path h="91440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548640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spc="-66">
                  <a:solidFill>
                    <a:srgbClr val="2A2E30"/>
                  </a:solidFill>
                  <a:latin typeface="Arsenal"/>
                  <a:ea typeface="Arsenal"/>
                  <a:cs typeface="Arsenal"/>
                  <a:sym typeface="Arsenal"/>
                </a:rPr>
                <a:t>Fact_Sales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7087057" y="5417820"/>
            <a:ext cx="4114800" cy="480060"/>
            <a:chOff x="0" y="0"/>
            <a:chExt cx="5486400" cy="64008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486400" cy="640080"/>
            </a:xfrm>
            <a:custGeom>
              <a:avLst/>
              <a:gdLst/>
              <a:ahLst/>
              <a:cxnLst/>
              <a:rect r="r" b="b" t="t" l="l"/>
              <a:pathLst>
                <a:path h="64008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5486400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Transactions • Quantity • Price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822960" y="8915400"/>
            <a:ext cx="16637508" cy="548640"/>
            <a:chOff x="0" y="0"/>
            <a:chExt cx="22183344" cy="73152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2183344" cy="731520"/>
            </a:xfrm>
            <a:custGeom>
              <a:avLst/>
              <a:gdLst/>
              <a:ahLst/>
              <a:cxnLst/>
              <a:rect r="r" b="b" t="t" l="l"/>
              <a:pathLst>
                <a:path h="731520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0883" r="0" b="-540883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9525"/>
              <a:ext cx="22183344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FFFFFF"/>
                  </a:solidFill>
                  <a:latin typeface="Radley"/>
                  <a:ea typeface="Radley"/>
                  <a:cs typeface="Radley"/>
                  <a:sym typeface="Radley"/>
                </a:rPr>
                <a:t>Key modeling principle: dimensions filter the central fact table; avoid unnecessary direct dimension-to-dimension relationships.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45C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390650"/>
            <a:chOff x="0" y="0"/>
            <a:chExt cx="24408790" cy="1854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1854200"/>
            </a:xfrm>
            <a:custGeom>
              <a:avLst/>
              <a:gdLst/>
              <a:ahLst/>
              <a:cxnLst/>
              <a:rect r="r" b="b" t="t" l="l"/>
              <a:pathLst>
                <a:path h="18542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854200"/>
                  </a:lnTo>
                  <a:lnTo>
                    <a:pt x="0" y="1854200"/>
                  </a:lnTo>
                  <a:close/>
                </a:path>
              </a:pathLst>
            </a:custGeom>
            <a:solidFill>
              <a:srgbClr val="FF9E7A"/>
            </a:solidFill>
            <a:ln w="19050" cap="sq">
              <a:solidFill>
                <a:srgbClr val="162746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0"/>
            <a:ext cx="14401800" cy="1371600"/>
            <a:chOff x="0" y="0"/>
            <a:chExt cx="19202400" cy="1828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2024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592" r="0" b="-15459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9202400" cy="1828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spc="-84">
                  <a:solidFill>
                    <a:srgbClr val="345C72"/>
                  </a:solidFill>
                  <a:latin typeface="Arsenal"/>
                  <a:ea typeface="Arsenal"/>
                  <a:cs typeface="Arsenal"/>
                  <a:sym typeface="Arsenal"/>
                </a:rPr>
                <a:t>4. DAX Measures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088868" y="0"/>
            <a:ext cx="1371600" cy="1371600"/>
            <a:chOff x="0" y="0"/>
            <a:chExt cx="1828800" cy="1828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1828800" cy="1828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520"/>
                </a:lnSpc>
              </a:pPr>
              <a:r>
                <a:rPr lang="en-US" sz="210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5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1508760"/>
            <a:ext cx="16637508" cy="480060"/>
            <a:chOff x="0" y="0"/>
            <a:chExt cx="22183344" cy="6400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183344" cy="640080"/>
            </a:xfrm>
            <a:custGeom>
              <a:avLst/>
              <a:gdLst/>
              <a:ahLst/>
              <a:cxnLst/>
              <a:rect r="r" b="b" t="t" l="l"/>
              <a:pathLst>
                <a:path h="640080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5295" r="0" b="-62529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22183344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Radley"/>
                  <a:ea typeface="Radley"/>
                  <a:cs typeface="Radley"/>
                  <a:sym typeface="Radley"/>
                </a:rPr>
                <a:t>Measures convert the model into business metrics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22960" y="9642348"/>
            <a:ext cx="10972800" cy="411480"/>
            <a:chOff x="0" y="0"/>
            <a:chExt cx="14630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4630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FFFFFF"/>
                  </a:solidFill>
                  <a:latin typeface="Radley"/>
                  <a:ea typeface="Radley"/>
                  <a:cs typeface="Radley"/>
                  <a:sym typeface="Radley"/>
                </a:rPr>
                <a:t>Power BI Sales Intelligence Dashboard • Presentation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15816" y="2255996"/>
            <a:ext cx="16651796" cy="1042988"/>
            <a:chOff x="0" y="0"/>
            <a:chExt cx="22202394" cy="13906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202395" cy="1390650"/>
            </a:xfrm>
            <a:custGeom>
              <a:avLst/>
              <a:gdLst/>
              <a:ahLst/>
              <a:cxnLst/>
              <a:rect r="r" b="b" t="t" l="l"/>
              <a:pathLst>
                <a:path h="1390650" w="22202395">
                  <a:moveTo>
                    <a:pt x="0" y="148336"/>
                  </a:moveTo>
                  <a:cubicBezTo>
                    <a:pt x="0" y="66421"/>
                    <a:pt x="66421" y="0"/>
                    <a:pt x="148336" y="0"/>
                  </a:cubicBezTo>
                  <a:lnTo>
                    <a:pt x="22054058" y="0"/>
                  </a:lnTo>
                  <a:cubicBezTo>
                    <a:pt x="22135973" y="0"/>
                    <a:pt x="22202395" y="66421"/>
                    <a:pt x="22202395" y="148336"/>
                  </a:cubicBezTo>
                  <a:lnTo>
                    <a:pt x="22202395" y="1242314"/>
                  </a:lnTo>
                  <a:cubicBezTo>
                    <a:pt x="22202395" y="1324229"/>
                    <a:pt x="22135973" y="1390650"/>
                    <a:pt x="22054058" y="1390650"/>
                  </a:cubicBezTo>
                  <a:lnTo>
                    <a:pt x="148336" y="1390650"/>
                  </a:lnTo>
                  <a:cubicBezTo>
                    <a:pt x="66421" y="1390650"/>
                    <a:pt x="0" y="1324229"/>
                    <a:pt x="0" y="1242314"/>
                  </a:cubicBezTo>
                  <a:close/>
                </a:path>
              </a:pathLst>
            </a:custGeom>
            <a:solidFill>
              <a:srgbClr val="D4EDF4"/>
            </a:solidFill>
            <a:ln w="14288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165860" y="2263140"/>
            <a:ext cx="3154680" cy="1028700"/>
            <a:chOff x="0" y="0"/>
            <a:chExt cx="4206240" cy="1371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206240" cy="1371600"/>
            </a:xfrm>
            <a:custGeom>
              <a:avLst/>
              <a:gdLst/>
              <a:ahLst/>
              <a:cxnLst/>
              <a:rect r="r" b="b" t="t" l="l"/>
              <a:pathLst>
                <a:path h="137160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54" r="0" b="-9754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4206240" cy="1381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Sales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4389120" y="2263140"/>
            <a:ext cx="9052560" cy="1028700"/>
            <a:chOff x="0" y="0"/>
            <a:chExt cx="12070080" cy="13716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07008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2070080">
                  <a:moveTo>
                    <a:pt x="0" y="0"/>
                  </a:moveTo>
                  <a:lnTo>
                    <a:pt x="12070080" y="0"/>
                  </a:lnTo>
                  <a:lnTo>
                    <a:pt x="1207008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1468" r="0" b="-121468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12070080" cy="1381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Total Sales • Total Orders • Total Quantity Sold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3578840" y="2263140"/>
            <a:ext cx="3634740" cy="1028700"/>
            <a:chOff x="0" y="0"/>
            <a:chExt cx="4846320" cy="13716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846320" cy="1371600"/>
            </a:xfrm>
            <a:custGeom>
              <a:avLst/>
              <a:gdLst/>
              <a:ahLst/>
              <a:cxnLst/>
              <a:rect r="r" b="b" t="t" l="l"/>
              <a:pathLst>
                <a:path h="1371600" w="4846320">
                  <a:moveTo>
                    <a:pt x="0" y="0"/>
                  </a:moveTo>
                  <a:lnTo>
                    <a:pt x="4846320" y="0"/>
                  </a:lnTo>
                  <a:lnTo>
                    <a:pt x="484632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847" r="0" b="-18847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4846320" cy="1381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SUM / DISTINCTCOUNT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15816" y="3490436"/>
            <a:ext cx="16651796" cy="1042988"/>
            <a:chOff x="0" y="0"/>
            <a:chExt cx="22202394" cy="139065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202395" cy="1390650"/>
            </a:xfrm>
            <a:custGeom>
              <a:avLst/>
              <a:gdLst/>
              <a:ahLst/>
              <a:cxnLst/>
              <a:rect r="r" b="b" t="t" l="l"/>
              <a:pathLst>
                <a:path h="1390650" w="22202395">
                  <a:moveTo>
                    <a:pt x="0" y="148336"/>
                  </a:moveTo>
                  <a:cubicBezTo>
                    <a:pt x="0" y="66421"/>
                    <a:pt x="66421" y="0"/>
                    <a:pt x="148336" y="0"/>
                  </a:cubicBezTo>
                  <a:lnTo>
                    <a:pt x="22054058" y="0"/>
                  </a:lnTo>
                  <a:cubicBezTo>
                    <a:pt x="22135973" y="0"/>
                    <a:pt x="22202395" y="66421"/>
                    <a:pt x="22202395" y="148336"/>
                  </a:cubicBezTo>
                  <a:lnTo>
                    <a:pt x="22202395" y="1242314"/>
                  </a:lnTo>
                  <a:cubicBezTo>
                    <a:pt x="22202395" y="1324229"/>
                    <a:pt x="22135973" y="1390650"/>
                    <a:pt x="22054058" y="1390650"/>
                  </a:cubicBezTo>
                  <a:lnTo>
                    <a:pt x="148336" y="1390650"/>
                  </a:lnTo>
                  <a:cubicBezTo>
                    <a:pt x="66421" y="1390650"/>
                    <a:pt x="0" y="1324229"/>
                    <a:pt x="0" y="1242314"/>
                  </a:cubicBezTo>
                  <a:close/>
                </a:path>
              </a:pathLst>
            </a:custGeom>
            <a:solidFill>
              <a:srgbClr val="D4EDF4"/>
            </a:solidFill>
            <a:ln w="14288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165860" y="3497580"/>
            <a:ext cx="3154680" cy="1028700"/>
            <a:chOff x="0" y="0"/>
            <a:chExt cx="4206240" cy="13716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206240" cy="1371600"/>
            </a:xfrm>
            <a:custGeom>
              <a:avLst/>
              <a:gdLst/>
              <a:ahLst/>
              <a:cxnLst/>
              <a:rect r="r" b="b" t="t" l="l"/>
              <a:pathLst>
                <a:path h="137160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54" r="0" b="-9754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4206240" cy="1381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Customer value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4389120" y="3497580"/>
            <a:ext cx="9052560" cy="1028700"/>
            <a:chOff x="0" y="0"/>
            <a:chExt cx="12070080" cy="13716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207008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2070080">
                  <a:moveTo>
                    <a:pt x="0" y="0"/>
                  </a:moveTo>
                  <a:lnTo>
                    <a:pt x="12070080" y="0"/>
                  </a:lnTo>
                  <a:lnTo>
                    <a:pt x="1207008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1468" r="0" b="-121468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12070080" cy="1381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Average Order Value • Average Selling Price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3578840" y="3497580"/>
            <a:ext cx="3634740" cy="1028700"/>
            <a:chOff x="0" y="0"/>
            <a:chExt cx="4846320" cy="13716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846320" cy="1371600"/>
            </a:xfrm>
            <a:custGeom>
              <a:avLst/>
              <a:gdLst/>
              <a:ahLst/>
              <a:cxnLst/>
              <a:rect r="r" b="b" t="t" l="l"/>
              <a:pathLst>
                <a:path h="1371600" w="4846320">
                  <a:moveTo>
                    <a:pt x="0" y="0"/>
                  </a:moveTo>
                  <a:lnTo>
                    <a:pt x="4846320" y="0"/>
                  </a:lnTo>
                  <a:lnTo>
                    <a:pt x="484632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847" r="0" b="-1884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4846320" cy="1381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DIVIDE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815816" y="4724876"/>
            <a:ext cx="16651796" cy="1042988"/>
            <a:chOff x="0" y="0"/>
            <a:chExt cx="22202394" cy="139065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2202395" cy="1390650"/>
            </a:xfrm>
            <a:custGeom>
              <a:avLst/>
              <a:gdLst/>
              <a:ahLst/>
              <a:cxnLst/>
              <a:rect r="r" b="b" t="t" l="l"/>
              <a:pathLst>
                <a:path h="1390650" w="22202395">
                  <a:moveTo>
                    <a:pt x="0" y="148336"/>
                  </a:moveTo>
                  <a:cubicBezTo>
                    <a:pt x="0" y="66421"/>
                    <a:pt x="66421" y="0"/>
                    <a:pt x="148336" y="0"/>
                  </a:cubicBezTo>
                  <a:lnTo>
                    <a:pt x="22054058" y="0"/>
                  </a:lnTo>
                  <a:cubicBezTo>
                    <a:pt x="22135973" y="0"/>
                    <a:pt x="22202395" y="66421"/>
                    <a:pt x="22202395" y="148336"/>
                  </a:cubicBezTo>
                  <a:lnTo>
                    <a:pt x="22202395" y="1242314"/>
                  </a:lnTo>
                  <a:cubicBezTo>
                    <a:pt x="22202395" y="1324229"/>
                    <a:pt x="22135973" y="1390650"/>
                    <a:pt x="22054058" y="1390650"/>
                  </a:cubicBezTo>
                  <a:lnTo>
                    <a:pt x="148336" y="1390650"/>
                  </a:lnTo>
                  <a:cubicBezTo>
                    <a:pt x="66421" y="1390650"/>
                    <a:pt x="0" y="1324229"/>
                    <a:pt x="0" y="1242314"/>
                  </a:cubicBezTo>
                  <a:close/>
                </a:path>
              </a:pathLst>
            </a:custGeom>
            <a:solidFill>
              <a:srgbClr val="D4EDF4"/>
            </a:solidFill>
            <a:ln w="14288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165860" y="4732020"/>
            <a:ext cx="3154680" cy="1028700"/>
            <a:chOff x="0" y="0"/>
            <a:chExt cx="4206240" cy="13716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206240" cy="1371600"/>
            </a:xfrm>
            <a:custGeom>
              <a:avLst/>
              <a:gdLst/>
              <a:ahLst/>
              <a:cxnLst/>
              <a:rect r="r" b="b" t="t" l="l"/>
              <a:pathLst>
                <a:path h="137160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54" r="0" b="-9754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4206240" cy="1381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Profitability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4389120" y="4732020"/>
            <a:ext cx="9052560" cy="1028700"/>
            <a:chOff x="0" y="0"/>
            <a:chExt cx="12070080" cy="13716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207008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2070080">
                  <a:moveTo>
                    <a:pt x="0" y="0"/>
                  </a:moveTo>
                  <a:lnTo>
                    <a:pt x="12070080" y="0"/>
                  </a:lnTo>
                  <a:lnTo>
                    <a:pt x="1207008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1468" r="0" b="-121468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12070080" cy="1381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Total Cost • Gross Profit • Gross Margin % • Profit per Unit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3578840" y="4732020"/>
            <a:ext cx="3634740" cy="1028700"/>
            <a:chOff x="0" y="0"/>
            <a:chExt cx="4846320" cy="13716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846320" cy="1371600"/>
            </a:xfrm>
            <a:custGeom>
              <a:avLst/>
              <a:gdLst/>
              <a:ahLst/>
              <a:cxnLst/>
              <a:rect r="r" b="b" t="t" l="l"/>
              <a:pathLst>
                <a:path h="1371600" w="4846320">
                  <a:moveTo>
                    <a:pt x="0" y="0"/>
                  </a:moveTo>
                  <a:lnTo>
                    <a:pt x="4846320" y="0"/>
                  </a:lnTo>
                  <a:lnTo>
                    <a:pt x="484632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847" r="0" b="-18847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"/>
              <a:ext cx="4846320" cy="1381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SUMX / DIVIDE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815816" y="5959316"/>
            <a:ext cx="16651796" cy="1042988"/>
            <a:chOff x="0" y="0"/>
            <a:chExt cx="22202394" cy="139065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2202395" cy="1390650"/>
            </a:xfrm>
            <a:custGeom>
              <a:avLst/>
              <a:gdLst/>
              <a:ahLst/>
              <a:cxnLst/>
              <a:rect r="r" b="b" t="t" l="l"/>
              <a:pathLst>
                <a:path h="1390650" w="22202395">
                  <a:moveTo>
                    <a:pt x="0" y="148336"/>
                  </a:moveTo>
                  <a:cubicBezTo>
                    <a:pt x="0" y="66421"/>
                    <a:pt x="66421" y="0"/>
                    <a:pt x="148336" y="0"/>
                  </a:cubicBezTo>
                  <a:lnTo>
                    <a:pt x="22054058" y="0"/>
                  </a:lnTo>
                  <a:cubicBezTo>
                    <a:pt x="22135973" y="0"/>
                    <a:pt x="22202395" y="66421"/>
                    <a:pt x="22202395" y="148336"/>
                  </a:cubicBezTo>
                  <a:lnTo>
                    <a:pt x="22202395" y="1242314"/>
                  </a:lnTo>
                  <a:cubicBezTo>
                    <a:pt x="22202395" y="1324229"/>
                    <a:pt x="22135973" y="1390650"/>
                    <a:pt x="22054058" y="1390650"/>
                  </a:cubicBezTo>
                  <a:lnTo>
                    <a:pt x="148336" y="1390650"/>
                  </a:lnTo>
                  <a:cubicBezTo>
                    <a:pt x="66421" y="1390650"/>
                    <a:pt x="0" y="1324229"/>
                    <a:pt x="0" y="1242314"/>
                  </a:cubicBezTo>
                  <a:close/>
                </a:path>
              </a:pathLst>
            </a:custGeom>
            <a:solidFill>
              <a:srgbClr val="D4EDF4"/>
            </a:solidFill>
            <a:ln w="14288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1165860" y="5966460"/>
            <a:ext cx="3154680" cy="1028700"/>
            <a:chOff x="0" y="0"/>
            <a:chExt cx="4206240" cy="13716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206240" cy="1371600"/>
            </a:xfrm>
            <a:custGeom>
              <a:avLst/>
              <a:gdLst/>
              <a:ahLst/>
              <a:cxnLst/>
              <a:rect r="r" b="b" t="t" l="l"/>
              <a:pathLst>
                <a:path h="137160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54" r="0" b="-9754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9525"/>
              <a:ext cx="4206240" cy="1381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Time intelligence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4389120" y="5966460"/>
            <a:ext cx="9052560" cy="1028700"/>
            <a:chOff x="0" y="0"/>
            <a:chExt cx="12070080" cy="13716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207008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2070080">
                  <a:moveTo>
                    <a:pt x="0" y="0"/>
                  </a:moveTo>
                  <a:lnTo>
                    <a:pt x="12070080" y="0"/>
                  </a:lnTo>
                  <a:lnTo>
                    <a:pt x="1207008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1468" r="0" b="-121468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9525"/>
              <a:ext cx="12070080" cy="1381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Current Year • Previous Year • YoY Growth % • MTD • YTD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3578840" y="5966460"/>
            <a:ext cx="3634740" cy="1028700"/>
            <a:chOff x="0" y="0"/>
            <a:chExt cx="4846320" cy="13716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846320" cy="1371600"/>
            </a:xfrm>
            <a:custGeom>
              <a:avLst/>
              <a:gdLst/>
              <a:ahLst/>
              <a:cxnLst/>
              <a:rect r="r" b="b" t="t" l="l"/>
              <a:pathLst>
                <a:path h="1371600" w="4846320">
                  <a:moveTo>
                    <a:pt x="0" y="0"/>
                  </a:moveTo>
                  <a:lnTo>
                    <a:pt x="4846320" y="0"/>
                  </a:lnTo>
                  <a:lnTo>
                    <a:pt x="484632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847" r="0" b="-18847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9525"/>
              <a:ext cx="4846320" cy="1381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CALCULATE / DATEADD / TOTALYTD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815816" y="7193756"/>
            <a:ext cx="16651796" cy="1042988"/>
            <a:chOff x="0" y="0"/>
            <a:chExt cx="22202394" cy="139065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2202395" cy="1390650"/>
            </a:xfrm>
            <a:custGeom>
              <a:avLst/>
              <a:gdLst/>
              <a:ahLst/>
              <a:cxnLst/>
              <a:rect r="r" b="b" t="t" l="l"/>
              <a:pathLst>
                <a:path h="1390650" w="22202395">
                  <a:moveTo>
                    <a:pt x="0" y="148336"/>
                  </a:moveTo>
                  <a:cubicBezTo>
                    <a:pt x="0" y="66421"/>
                    <a:pt x="66421" y="0"/>
                    <a:pt x="148336" y="0"/>
                  </a:cubicBezTo>
                  <a:lnTo>
                    <a:pt x="22054058" y="0"/>
                  </a:lnTo>
                  <a:cubicBezTo>
                    <a:pt x="22135973" y="0"/>
                    <a:pt x="22202395" y="66421"/>
                    <a:pt x="22202395" y="148336"/>
                  </a:cubicBezTo>
                  <a:lnTo>
                    <a:pt x="22202395" y="1242314"/>
                  </a:lnTo>
                  <a:cubicBezTo>
                    <a:pt x="22202395" y="1324229"/>
                    <a:pt x="22135973" y="1390650"/>
                    <a:pt x="22054058" y="1390650"/>
                  </a:cubicBezTo>
                  <a:lnTo>
                    <a:pt x="148336" y="1390650"/>
                  </a:lnTo>
                  <a:cubicBezTo>
                    <a:pt x="66421" y="1390650"/>
                    <a:pt x="0" y="1324229"/>
                    <a:pt x="0" y="1242314"/>
                  </a:cubicBezTo>
                  <a:close/>
                </a:path>
              </a:pathLst>
            </a:custGeom>
            <a:solidFill>
              <a:srgbClr val="D4EDF4"/>
            </a:solidFill>
            <a:ln w="14288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1165860" y="7200900"/>
            <a:ext cx="3154680" cy="1028700"/>
            <a:chOff x="0" y="0"/>
            <a:chExt cx="4206240" cy="13716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206240" cy="1371600"/>
            </a:xfrm>
            <a:custGeom>
              <a:avLst/>
              <a:gdLst/>
              <a:ahLst/>
              <a:cxnLst/>
              <a:rect r="r" b="b" t="t" l="l"/>
              <a:pathLst>
                <a:path h="137160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54" r="0" b="-9754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9525"/>
              <a:ext cx="4206240" cy="1381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Budget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4389120" y="7200900"/>
            <a:ext cx="9052560" cy="1028700"/>
            <a:chOff x="0" y="0"/>
            <a:chExt cx="12070080" cy="13716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207008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2070080">
                  <a:moveTo>
                    <a:pt x="0" y="0"/>
                  </a:moveTo>
                  <a:lnTo>
                    <a:pt x="12070080" y="0"/>
                  </a:lnTo>
                  <a:lnTo>
                    <a:pt x="1207008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1468" r="0" b="-121468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9525"/>
              <a:ext cx="12070080" cy="1381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Budget • Actual Sales • Variance • Achievement %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3578840" y="7200900"/>
            <a:ext cx="3634740" cy="1028700"/>
            <a:chOff x="0" y="0"/>
            <a:chExt cx="4846320" cy="13716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846320" cy="1371600"/>
            </a:xfrm>
            <a:custGeom>
              <a:avLst/>
              <a:gdLst/>
              <a:ahLst/>
              <a:cxnLst/>
              <a:rect r="r" b="b" t="t" l="l"/>
              <a:pathLst>
                <a:path h="1371600" w="4846320">
                  <a:moveTo>
                    <a:pt x="0" y="0"/>
                  </a:moveTo>
                  <a:lnTo>
                    <a:pt x="4846320" y="0"/>
                  </a:lnTo>
                  <a:lnTo>
                    <a:pt x="484632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847" r="0" b="-18847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9525"/>
              <a:ext cx="4846320" cy="1381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CALCULATE / DIVIDE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813435" y="8631555"/>
            <a:ext cx="3448050" cy="595122"/>
            <a:chOff x="0" y="0"/>
            <a:chExt cx="4597400" cy="793496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597400" cy="793496"/>
            </a:xfrm>
            <a:custGeom>
              <a:avLst/>
              <a:gdLst/>
              <a:ahLst/>
              <a:cxnLst/>
              <a:rect r="r" b="b" t="t" l="l"/>
              <a:pathLst>
                <a:path h="793496" w="4597400">
                  <a:moveTo>
                    <a:pt x="0" y="396748"/>
                  </a:moveTo>
                  <a:cubicBezTo>
                    <a:pt x="0" y="177673"/>
                    <a:pt x="177673" y="0"/>
                    <a:pt x="396748" y="0"/>
                  </a:cubicBezTo>
                  <a:lnTo>
                    <a:pt x="4200652" y="0"/>
                  </a:lnTo>
                  <a:cubicBezTo>
                    <a:pt x="4419727" y="0"/>
                    <a:pt x="4597400" y="177673"/>
                    <a:pt x="4597400" y="396748"/>
                  </a:cubicBezTo>
                  <a:cubicBezTo>
                    <a:pt x="4597400" y="615823"/>
                    <a:pt x="4419727" y="793496"/>
                    <a:pt x="4200652" y="793496"/>
                  </a:cubicBezTo>
                  <a:lnTo>
                    <a:pt x="396748" y="793496"/>
                  </a:lnTo>
                  <a:cubicBezTo>
                    <a:pt x="177673" y="793496"/>
                    <a:pt x="0" y="615823"/>
                    <a:pt x="0" y="396748"/>
                  </a:cubicBezTo>
                  <a:close/>
                </a:path>
              </a:pathLst>
            </a:custGeom>
            <a:solidFill>
              <a:srgbClr val="F46530"/>
            </a:solidFill>
            <a:ln w="19050" cap="sq">
              <a:solidFill>
                <a:srgbClr val="1F8985"/>
              </a:solidFill>
              <a:prstDash val="solid"/>
              <a:miter/>
            </a:ln>
          </p:spPr>
        </p:sp>
      </p:grpSp>
      <p:grpSp>
        <p:nvGrpSpPr>
          <p:cNvPr name="Group 73" id="73"/>
          <p:cNvGrpSpPr/>
          <p:nvPr/>
        </p:nvGrpSpPr>
        <p:grpSpPr>
          <a:xfrm rot="0">
            <a:off x="822960" y="8641080"/>
            <a:ext cx="3429000" cy="576072"/>
            <a:chOff x="0" y="0"/>
            <a:chExt cx="4572000" cy="76809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4572000" cy="768096"/>
            </a:xfrm>
            <a:custGeom>
              <a:avLst/>
              <a:gdLst/>
              <a:ahLst/>
              <a:cxnLst/>
              <a:rect r="r" b="b" t="t" l="l"/>
              <a:pathLst>
                <a:path h="768096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982" r="0" b="-65982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0"/>
              <a:ext cx="4572000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ADVANCED FUNCTIONS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4594860" y="8641080"/>
            <a:ext cx="12824460" cy="576072"/>
            <a:chOff x="0" y="0"/>
            <a:chExt cx="17099280" cy="768096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7099280" cy="768096"/>
            </a:xfrm>
            <a:custGeom>
              <a:avLst/>
              <a:gdLst/>
              <a:ahLst/>
              <a:cxnLst/>
              <a:rect r="r" b="b" t="t" l="l"/>
              <a:pathLst>
                <a:path h="768096" w="17099280">
                  <a:moveTo>
                    <a:pt x="0" y="0"/>
                  </a:moveTo>
                  <a:lnTo>
                    <a:pt x="17099280" y="0"/>
                  </a:lnTo>
                  <a:lnTo>
                    <a:pt x="1709928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3774" r="0" b="-383774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0"/>
              <a:ext cx="17099280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Radley"/>
                  <a:ea typeface="Radley"/>
                  <a:cs typeface="Radley"/>
                  <a:sym typeface="Radley"/>
                </a:rPr>
                <a:t>CALCULATE • FILTER • ALL • ALLSELECTED • DIVIDE • SUMX • AVERAGEX • RANKX • SAMEPERIODLASTYEAR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45C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390650"/>
            <a:chOff x="0" y="0"/>
            <a:chExt cx="24408790" cy="1854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1854200"/>
            </a:xfrm>
            <a:custGeom>
              <a:avLst/>
              <a:gdLst/>
              <a:ahLst/>
              <a:cxnLst/>
              <a:rect r="r" b="b" t="t" l="l"/>
              <a:pathLst>
                <a:path h="18542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854200"/>
                  </a:lnTo>
                  <a:lnTo>
                    <a:pt x="0" y="1854200"/>
                  </a:lnTo>
                  <a:close/>
                </a:path>
              </a:pathLst>
            </a:custGeom>
            <a:solidFill>
              <a:srgbClr val="D4EDF4"/>
            </a:solidFill>
            <a:ln w="19050" cap="sq">
              <a:solidFill>
                <a:srgbClr val="162746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0"/>
            <a:ext cx="14401800" cy="1371600"/>
            <a:chOff x="0" y="0"/>
            <a:chExt cx="19202400" cy="1828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2024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592" r="0" b="-15459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9202400" cy="1828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spc="-84">
                  <a:solidFill>
                    <a:srgbClr val="2A2E30"/>
                  </a:solidFill>
                  <a:latin typeface="Arsenal"/>
                  <a:ea typeface="Arsenal"/>
                  <a:cs typeface="Arsenal"/>
                  <a:sym typeface="Arsenal"/>
                </a:rPr>
                <a:t>5. Dashboard Design &amp; Interactivity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088868" y="0"/>
            <a:ext cx="1371600" cy="1371600"/>
            <a:chOff x="0" y="0"/>
            <a:chExt cx="1828800" cy="1828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1828800" cy="1828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520"/>
                </a:lnSpc>
              </a:pPr>
              <a:r>
                <a:rPr lang="en-US" sz="210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1508760"/>
            <a:ext cx="16637508" cy="480060"/>
            <a:chOff x="0" y="0"/>
            <a:chExt cx="22183344" cy="6400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183344" cy="640080"/>
            </a:xfrm>
            <a:custGeom>
              <a:avLst/>
              <a:gdLst/>
              <a:ahLst/>
              <a:cxnLst/>
              <a:rect r="r" b="b" t="t" l="l"/>
              <a:pathLst>
                <a:path h="640080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5295" r="0" b="-62529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22183344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Radley"/>
                  <a:ea typeface="Radley"/>
                  <a:cs typeface="Radley"/>
                  <a:sym typeface="Radley"/>
                </a:rPr>
                <a:t>Designed as an interactive report rather than a collection of static charts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22960" y="9642348"/>
            <a:ext cx="10972800" cy="411480"/>
            <a:chOff x="0" y="0"/>
            <a:chExt cx="14630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4630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FFFFFF"/>
                  </a:solidFill>
                  <a:latin typeface="Radley"/>
                  <a:ea typeface="Radley"/>
                  <a:cs typeface="Radley"/>
                  <a:sym typeface="Radley"/>
                </a:rPr>
                <a:t>Power BI Sales Intelligence Dashboard • Presentation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15816" y="2255996"/>
            <a:ext cx="8655368" cy="1797367"/>
            <a:chOff x="0" y="0"/>
            <a:chExt cx="11540490" cy="239649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540490" cy="2396490"/>
            </a:xfrm>
            <a:custGeom>
              <a:avLst/>
              <a:gdLst/>
              <a:ahLst/>
              <a:cxnLst/>
              <a:rect r="r" b="b" t="t" l="l"/>
              <a:pathLst>
                <a:path h="2396490" w="11540490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11393043" y="0"/>
                  </a:lnTo>
                  <a:cubicBezTo>
                    <a:pt x="11474450" y="0"/>
                    <a:pt x="11540490" y="66040"/>
                    <a:pt x="11540490" y="147447"/>
                  </a:cubicBezTo>
                  <a:lnTo>
                    <a:pt x="11540490" y="2249043"/>
                  </a:lnTo>
                  <a:cubicBezTo>
                    <a:pt x="11540490" y="2330450"/>
                    <a:pt x="11474450" y="2396490"/>
                    <a:pt x="11393043" y="2396490"/>
                  </a:cubicBezTo>
                  <a:lnTo>
                    <a:pt x="147447" y="2396490"/>
                  </a:lnTo>
                  <a:cubicBezTo>
                    <a:pt x="66040" y="2396490"/>
                    <a:pt x="0" y="2330450"/>
                    <a:pt x="0" y="2249043"/>
                  </a:cubicBezTo>
                  <a:close/>
                </a:path>
              </a:pathLst>
            </a:custGeom>
            <a:solidFill>
              <a:srgbClr val="D4EDF4"/>
            </a:solidFill>
            <a:ln w="14288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165860" y="2468880"/>
            <a:ext cx="7955280" cy="411480"/>
            <a:chOff x="0" y="0"/>
            <a:chExt cx="10607040" cy="5486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607040" cy="548640"/>
            </a:xfrm>
            <a:custGeom>
              <a:avLst/>
              <a:gdLst/>
              <a:ahLst/>
              <a:cxnLst/>
              <a:rect r="r" b="b" t="t" l="l"/>
              <a:pathLst>
                <a:path h="54864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6710" r="0" b="-32671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1060704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Executive Overview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165860" y="2939415"/>
            <a:ext cx="7955280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2A2E30"/>
                </a:solidFill>
                <a:latin typeface="Radley"/>
                <a:ea typeface="Radley"/>
                <a:cs typeface="Radley"/>
                <a:sym typeface="Radley"/>
              </a:rPr>
              <a:t>KPIs • sales trend • state • products • customers • salespeople • budget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815816" y="4381976"/>
            <a:ext cx="8655368" cy="1797367"/>
            <a:chOff x="0" y="0"/>
            <a:chExt cx="11540490" cy="239649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540490" cy="2396490"/>
            </a:xfrm>
            <a:custGeom>
              <a:avLst/>
              <a:gdLst/>
              <a:ahLst/>
              <a:cxnLst/>
              <a:rect r="r" b="b" t="t" l="l"/>
              <a:pathLst>
                <a:path h="2396490" w="11540490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11393043" y="0"/>
                  </a:lnTo>
                  <a:cubicBezTo>
                    <a:pt x="11474450" y="0"/>
                    <a:pt x="11540490" y="66040"/>
                    <a:pt x="11540490" y="147447"/>
                  </a:cubicBezTo>
                  <a:lnTo>
                    <a:pt x="11540490" y="2249043"/>
                  </a:lnTo>
                  <a:cubicBezTo>
                    <a:pt x="11540490" y="2330450"/>
                    <a:pt x="11474450" y="2396490"/>
                    <a:pt x="11393043" y="2396490"/>
                  </a:cubicBezTo>
                  <a:lnTo>
                    <a:pt x="147447" y="2396490"/>
                  </a:lnTo>
                  <a:cubicBezTo>
                    <a:pt x="66040" y="2396490"/>
                    <a:pt x="0" y="2330450"/>
                    <a:pt x="0" y="2249043"/>
                  </a:cubicBezTo>
                  <a:close/>
                </a:path>
              </a:pathLst>
            </a:custGeom>
            <a:solidFill>
              <a:srgbClr val="D4EDF4"/>
            </a:solidFill>
            <a:ln w="14288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165860" y="4594860"/>
            <a:ext cx="7955280" cy="411480"/>
            <a:chOff x="0" y="0"/>
            <a:chExt cx="10607040" cy="5486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607040" cy="548640"/>
            </a:xfrm>
            <a:custGeom>
              <a:avLst/>
              <a:gdLst/>
              <a:ahLst/>
              <a:cxnLst/>
              <a:rect r="r" b="b" t="t" l="l"/>
              <a:pathLst>
                <a:path h="54864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6710" r="0" b="-32671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1060704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Analysis Pages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165860" y="5065395"/>
            <a:ext cx="7955280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2A2E30"/>
                </a:solidFill>
                <a:latin typeface="Radley"/>
                <a:ea typeface="Radley"/>
                <a:cs typeface="Radley"/>
                <a:sym typeface="Radley"/>
              </a:rPr>
              <a:t>Trend • Product • Customer • Salesperson • Geographic • Budget vs Actual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815816" y="6507956"/>
            <a:ext cx="8655368" cy="1797367"/>
            <a:chOff x="0" y="0"/>
            <a:chExt cx="11540490" cy="239649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540490" cy="2396490"/>
            </a:xfrm>
            <a:custGeom>
              <a:avLst/>
              <a:gdLst/>
              <a:ahLst/>
              <a:cxnLst/>
              <a:rect r="r" b="b" t="t" l="l"/>
              <a:pathLst>
                <a:path h="2396490" w="11540490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11393043" y="0"/>
                  </a:lnTo>
                  <a:cubicBezTo>
                    <a:pt x="11474450" y="0"/>
                    <a:pt x="11540490" y="66040"/>
                    <a:pt x="11540490" y="147447"/>
                  </a:cubicBezTo>
                  <a:lnTo>
                    <a:pt x="11540490" y="2249043"/>
                  </a:lnTo>
                  <a:cubicBezTo>
                    <a:pt x="11540490" y="2330450"/>
                    <a:pt x="11474450" y="2396490"/>
                    <a:pt x="11393043" y="2396490"/>
                  </a:cubicBezTo>
                  <a:lnTo>
                    <a:pt x="147447" y="2396490"/>
                  </a:lnTo>
                  <a:cubicBezTo>
                    <a:pt x="66040" y="2396490"/>
                    <a:pt x="0" y="2330450"/>
                    <a:pt x="0" y="2249043"/>
                  </a:cubicBezTo>
                  <a:close/>
                </a:path>
              </a:pathLst>
            </a:custGeom>
            <a:solidFill>
              <a:srgbClr val="D4EDF4"/>
            </a:solidFill>
            <a:ln w="14288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165860" y="6720840"/>
            <a:ext cx="7955280" cy="411480"/>
            <a:chOff x="0" y="0"/>
            <a:chExt cx="10607040" cy="5486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607040" cy="548640"/>
            </a:xfrm>
            <a:custGeom>
              <a:avLst/>
              <a:gdLst/>
              <a:ahLst/>
              <a:cxnLst/>
              <a:rect r="r" b="b" t="t" l="l"/>
              <a:pathLst>
                <a:path h="54864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6710" r="0" b="-32671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1060704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Interactive Layer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165860" y="7191375"/>
            <a:ext cx="795528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2A2E30"/>
                </a:solidFill>
                <a:latin typeface="Radley"/>
                <a:ea typeface="Radley"/>
                <a:cs typeface="Radley"/>
                <a:sym typeface="Radley"/>
              </a:rPr>
              <a:t>Slicers • drill-down • drill-through • tooltips • cross-filtering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0287000" y="2194560"/>
            <a:ext cx="7132320" cy="677189"/>
            <a:chOff x="0" y="0"/>
            <a:chExt cx="9509760" cy="90291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509760" cy="902919"/>
            </a:xfrm>
            <a:custGeom>
              <a:avLst/>
              <a:gdLst/>
              <a:ahLst/>
              <a:cxnLst/>
              <a:rect r="r" b="b" t="t" l="l"/>
              <a:pathLst>
                <a:path h="902919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902919"/>
                  </a:lnTo>
                  <a:lnTo>
                    <a:pt x="0" y="9029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648" r="0" b="-150793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9509760" cy="9029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spc="-66">
                  <a:solidFill>
                    <a:srgbClr val="FFFFFF"/>
                  </a:solidFill>
                  <a:latin typeface="Arsenal"/>
                  <a:ea typeface="Arsenal"/>
                  <a:cs typeface="Arsenal"/>
                  <a:sym typeface="Arsenal"/>
                </a:rPr>
                <a:t>User journey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0277475" y="3007995"/>
            <a:ext cx="1939290" cy="622554"/>
            <a:chOff x="0" y="0"/>
            <a:chExt cx="2585720" cy="83007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585720" cy="830072"/>
            </a:xfrm>
            <a:custGeom>
              <a:avLst/>
              <a:gdLst/>
              <a:ahLst/>
              <a:cxnLst/>
              <a:rect r="r" b="b" t="t" l="l"/>
              <a:pathLst>
                <a:path h="830072" w="2585720">
                  <a:moveTo>
                    <a:pt x="0" y="150876"/>
                  </a:moveTo>
                  <a:cubicBezTo>
                    <a:pt x="0" y="67564"/>
                    <a:pt x="67564" y="0"/>
                    <a:pt x="150876" y="0"/>
                  </a:cubicBezTo>
                  <a:lnTo>
                    <a:pt x="2434844" y="0"/>
                  </a:lnTo>
                  <a:cubicBezTo>
                    <a:pt x="2518156" y="0"/>
                    <a:pt x="2585720" y="67564"/>
                    <a:pt x="2585720" y="150876"/>
                  </a:cubicBezTo>
                  <a:lnTo>
                    <a:pt x="2585720" y="679196"/>
                  </a:lnTo>
                  <a:cubicBezTo>
                    <a:pt x="2585720" y="762508"/>
                    <a:pt x="2518156" y="830072"/>
                    <a:pt x="2434844" y="830072"/>
                  </a:cubicBezTo>
                  <a:lnTo>
                    <a:pt x="150876" y="830072"/>
                  </a:lnTo>
                  <a:cubicBezTo>
                    <a:pt x="67564" y="830072"/>
                    <a:pt x="0" y="762508"/>
                    <a:pt x="0" y="679196"/>
                  </a:cubicBezTo>
                  <a:close/>
                </a:path>
              </a:pathLst>
            </a:custGeom>
            <a:solidFill>
              <a:srgbClr val="FF9E7A"/>
            </a:solidFill>
            <a:ln w="19050" cap="sq">
              <a:solidFill>
                <a:srgbClr val="162746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0287000" y="3017520"/>
            <a:ext cx="1920240" cy="603504"/>
            <a:chOff x="0" y="0"/>
            <a:chExt cx="2560320" cy="80467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560320" cy="804672"/>
            </a:xfrm>
            <a:custGeom>
              <a:avLst/>
              <a:gdLst/>
              <a:ahLst/>
              <a:cxnLst/>
              <a:rect r="r" b="b" t="t" l="l"/>
              <a:pathLst>
                <a:path h="80467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997" r="0" b="-11997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2560320" cy="8141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Overall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2618720" y="3017520"/>
            <a:ext cx="4800600" cy="603504"/>
            <a:chOff x="0" y="0"/>
            <a:chExt cx="6400800" cy="80467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400800" cy="804672"/>
            </a:xfrm>
            <a:custGeom>
              <a:avLst/>
              <a:gdLst/>
              <a:ahLst/>
              <a:cxnLst/>
              <a:rect r="r" b="b" t="t" l="l"/>
              <a:pathLst>
                <a:path h="804672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994" r="0" b="-104994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6400800" cy="8141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FFFFFF"/>
                  </a:solidFill>
                  <a:latin typeface="Radley"/>
                  <a:ea typeface="Radley"/>
                  <a:cs typeface="Radley"/>
                  <a:sym typeface="Radley"/>
                </a:rPr>
                <a:t>Executive Overview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0287000" y="3621024"/>
            <a:ext cx="1920240" cy="493776"/>
            <a:chOff x="0" y="0"/>
            <a:chExt cx="2560320" cy="65836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560320" cy="658368"/>
            </a:xfrm>
            <a:custGeom>
              <a:avLst/>
              <a:gdLst/>
              <a:ahLst/>
              <a:cxnLst/>
              <a:rect r="r" b="b" t="t" l="l"/>
              <a:pathLst>
                <a:path h="658368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775" r="0" b="-25775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256032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↓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0277475" y="4105275"/>
            <a:ext cx="1939290" cy="622554"/>
            <a:chOff x="0" y="0"/>
            <a:chExt cx="2585720" cy="83007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585720" cy="830072"/>
            </a:xfrm>
            <a:custGeom>
              <a:avLst/>
              <a:gdLst/>
              <a:ahLst/>
              <a:cxnLst/>
              <a:rect r="r" b="b" t="t" l="l"/>
              <a:pathLst>
                <a:path h="830072" w="2585720">
                  <a:moveTo>
                    <a:pt x="0" y="150876"/>
                  </a:moveTo>
                  <a:cubicBezTo>
                    <a:pt x="0" y="67564"/>
                    <a:pt x="67564" y="0"/>
                    <a:pt x="150876" y="0"/>
                  </a:cubicBezTo>
                  <a:lnTo>
                    <a:pt x="2434844" y="0"/>
                  </a:lnTo>
                  <a:cubicBezTo>
                    <a:pt x="2518156" y="0"/>
                    <a:pt x="2585720" y="67564"/>
                    <a:pt x="2585720" y="150876"/>
                  </a:cubicBezTo>
                  <a:lnTo>
                    <a:pt x="2585720" y="679196"/>
                  </a:lnTo>
                  <a:cubicBezTo>
                    <a:pt x="2585720" y="762508"/>
                    <a:pt x="2518156" y="830072"/>
                    <a:pt x="2434844" y="830072"/>
                  </a:cubicBezTo>
                  <a:lnTo>
                    <a:pt x="150876" y="830072"/>
                  </a:lnTo>
                  <a:cubicBezTo>
                    <a:pt x="67564" y="830072"/>
                    <a:pt x="0" y="762508"/>
                    <a:pt x="0" y="679196"/>
                  </a:cubicBezTo>
                  <a:close/>
                </a:path>
              </a:pathLst>
            </a:custGeom>
            <a:solidFill>
              <a:srgbClr val="FF9E7A"/>
            </a:solidFill>
            <a:ln w="19050" cap="sq">
              <a:solidFill>
                <a:srgbClr val="162746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0287000" y="4114800"/>
            <a:ext cx="1920240" cy="603504"/>
            <a:chOff x="0" y="0"/>
            <a:chExt cx="2560320" cy="80467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560320" cy="804672"/>
            </a:xfrm>
            <a:custGeom>
              <a:avLst/>
              <a:gdLst/>
              <a:ahLst/>
              <a:cxnLst/>
              <a:rect r="r" b="b" t="t" l="l"/>
              <a:pathLst>
                <a:path h="80467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997" r="0" b="-11997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9525"/>
              <a:ext cx="2560320" cy="8141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Trend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2618720" y="4114800"/>
            <a:ext cx="4800600" cy="603504"/>
            <a:chOff x="0" y="0"/>
            <a:chExt cx="6400800" cy="80467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400800" cy="804672"/>
            </a:xfrm>
            <a:custGeom>
              <a:avLst/>
              <a:gdLst/>
              <a:ahLst/>
              <a:cxnLst/>
              <a:rect r="r" b="b" t="t" l="l"/>
              <a:pathLst>
                <a:path h="804672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994" r="0" b="-104994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"/>
              <a:ext cx="6400800" cy="8141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FFFFFF"/>
                  </a:solidFill>
                  <a:latin typeface="Radley"/>
                  <a:ea typeface="Radley"/>
                  <a:cs typeface="Radley"/>
                  <a:sym typeface="Radley"/>
                </a:rPr>
                <a:t>Sales Trend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0287000" y="4718304"/>
            <a:ext cx="1920240" cy="493776"/>
            <a:chOff x="0" y="0"/>
            <a:chExt cx="2560320" cy="65836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560320" cy="658368"/>
            </a:xfrm>
            <a:custGeom>
              <a:avLst/>
              <a:gdLst/>
              <a:ahLst/>
              <a:cxnLst/>
              <a:rect r="r" b="b" t="t" l="l"/>
              <a:pathLst>
                <a:path h="658368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775" r="0" b="-25775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256032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↓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0277475" y="5202555"/>
            <a:ext cx="1939290" cy="622554"/>
            <a:chOff x="0" y="0"/>
            <a:chExt cx="2585720" cy="83007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585720" cy="830072"/>
            </a:xfrm>
            <a:custGeom>
              <a:avLst/>
              <a:gdLst/>
              <a:ahLst/>
              <a:cxnLst/>
              <a:rect r="r" b="b" t="t" l="l"/>
              <a:pathLst>
                <a:path h="830072" w="2585720">
                  <a:moveTo>
                    <a:pt x="0" y="150876"/>
                  </a:moveTo>
                  <a:cubicBezTo>
                    <a:pt x="0" y="67564"/>
                    <a:pt x="67564" y="0"/>
                    <a:pt x="150876" y="0"/>
                  </a:cubicBezTo>
                  <a:lnTo>
                    <a:pt x="2434844" y="0"/>
                  </a:lnTo>
                  <a:cubicBezTo>
                    <a:pt x="2518156" y="0"/>
                    <a:pt x="2585720" y="67564"/>
                    <a:pt x="2585720" y="150876"/>
                  </a:cubicBezTo>
                  <a:lnTo>
                    <a:pt x="2585720" y="679196"/>
                  </a:lnTo>
                  <a:cubicBezTo>
                    <a:pt x="2585720" y="762508"/>
                    <a:pt x="2518156" y="830072"/>
                    <a:pt x="2434844" y="830072"/>
                  </a:cubicBezTo>
                  <a:lnTo>
                    <a:pt x="150876" y="830072"/>
                  </a:lnTo>
                  <a:cubicBezTo>
                    <a:pt x="67564" y="830072"/>
                    <a:pt x="0" y="762508"/>
                    <a:pt x="0" y="679196"/>
                  </a:cubicBezTo>
                  <a:close/>
                </a:path>
              </a:pathLst>
            </a:custGeom>
            <a:solidFill>
              <a:srgbClr val="FF9E7A"/>
            </a:solidFill>
            <a:ln w="19050" cap="sq">
              <a:solidFill>
                <a:srgbClr val="162746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10287000" y="5212080"/>
            <a:ext cx="1920240" cy="603504"/>
            <a:chOff x="0" y="0"/>
            <a:chExt cx="2560320" cy="804672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560320" cy="804672"/>
            </a:xfrm>
            <a:custGeom>
              <a:avLst/>
              <a:gdLst/>
              <a:ahLst/>
              <a:cxnLst/>
              <a:rect r="r" b="b" t="t" l="l"/>
              <a:pathLst>
                <a:path h="80467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997" r="0" b="-11997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9525"/>
              <a:ext cx="2560320" cy="8141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Drivers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2618720" y="5212080"/>
            <a:ext cx="4800600" cy="603504"/>
            <a:chOff x="0" y="0"/>
            <a:chExt cx="6400800" cy="80467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400800" cy="804672"/>
            </a:xfrm>
            <a:custGeom>
              <a:avLst/>
              <a:gdLst/>
              <a:ahLst/>
              <a:cxnLst/>
              <a:rect r="r" b="b" t="t" l="l"/>
              <a:pathLst>
                <a:path h="804672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994" r="0" b="-104994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9525"/>
              <a:ext cx="6400800" cy="8141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FFFFFF"/>
                  </a:solidFill>
                  <a:latin typeface="Radley"/>
                  <a:ea typeface="Radley"/>
                  <a:cs typeface="Radley"/>
                  <a:sym typeface="Radley"/>
                </a:rPr>
                <a:t>Product / Customer / Salesperson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0287000" y="5815584"/>
            <a:ext cx="1920240" cy="493776"/>
            <a:chOff x="0" y="0"/>
            <a:chExt cx="2560320" cy="658368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560320" cy="658368"/>
            </a:xfrm>
            <a:custGeom>
              <a:avLst/>
              <a:gdLst/>
              <a:ahLst/>
              <a:cxnLst/>
              <a:rect r="r" b="b" t="t" l="l"/>
              <a:pathLst>
                <a:path h="658368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775" r="0" b="-25775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0"/>
              <a:ext cx="256032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↓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0277475" y="6299835"/>
            <a:ext cx="1939290" cy="622554"/>
            <a:chOff x="0" y="0"/>
            <a:chExt cx="2585720" cy="83007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585720" cy="830072"/>
            </a:xfrm>
            <a:custGeom>
              <a:avLst/>
              <a:gdLst/>
              <a:ahLst/>
              <a:cxnLst/>
              <a:rect r="r" b="b" t="t" l="l"/>
              <a:pathLst>
                <a:path h="830072" w="2585720">
                  <a:moveTo>
                    <a:pt x="0" y="150876"/>
                  </a:moveTo>
                  <a:cubicBezTo>
                    <a:pt x="0" y="67564"/>
                    <a:pt x="67564" y="0"/>
                    <a:pt x="150876" y="0"/>
                  </a:cubicBezTo>
                  <a:lnTo>
                    <a:pt x="2434844" y="0"/>
                  </a:lnTo>
                  <a:cubicBezTo>
                    <a:pt x="2518156" y="0"/>
                    <a:pt x="2585720" y="67564"/>
                    <a:pt x="2585720" y="150876"/>
                  </a:cubicBezTo>
                  <a:lnTo>
                    <a:pt x="2585720" y="679196"/>
                  </a:lnTo>
                  <a:cubicBezTo>
                    <a:pt x="2585720" y="762508"/>
                    <a:pt x="2518156" y="830072"/>
                    <a:pt x="2434844" y="830072"/>
                  </a:cubicBezTo>
                  <a:lnTo>
                    <a:pt x="150876" y="830072"/>
                  </a:lnTo>
                  <a:cubicBezTo>
                    <a:pt x="67564" y="830072"/>
                    <a:pt x="0" y="762508"/>
                    <a:pt x="0" y="679196"/>
                  </a:cubicBezTo>
                  <a:close/>
                </a:path>
              </a:pathLst>
            </a:custGeom>
            <a:solidFill>
              <a:srgbClr val="FF9E7A"/>
            </a:solidFill>
            <a:ln w="19050" cap="sq">
              <a:solidFill>
                <a:srgbClr val="162746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10287000" y="6309360"/>
            <a:ext cx="1920240" cy="603504"/>
            <a:chOff x="0" y="0"/>
            <a:chExt cx="2560320" cy="804672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560320" cy="804672"/>
            </a:xfrm>
            <a:custGeom>
              <a:avLst/>
              <a:gdLst/>
              <a:ahLst/>
              <a:cxnLst/>
              <a:rect r="r" b="b" t="t" l="l"/>
              <a:pathLst>
                <a:path h="80467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997" r="0" b="-11997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9525"/>
              <a:ext cx="2560320" cy="8141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Location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2618720" y="6309360"/>
            <a:ext cx="4800600" cy="603504"/>
            <a:chOff x="0" y="0"/>
            <a:chExt cx="6400800" cy="804672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400800" cy="804672"/>
            </a:xfrm>
            <a:custGeom>
              <a:avLst/>
              <a:gdLst/>
              <a:ahLst/>
              <a:cxnLst/>
              <a:rect r="r" b="b" t="t" l="l"/>
              <a:pathLst>
                <a:path h="804672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994" r="0" b="-104994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9525"/>
              <a:ext cx="6400800" cy="8141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FFFFFF"/>
                  </a:solidFill>
                  <a:latin typeface="Radley"/>
                  <a:ea typeface="Radley"/>
                  <a:cs typeface="Radley"/>
                  <a:sym typeface="Radley"/>
                </a:rPr>
                <a:t>Geographic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0287000" y="6912864"/>
            <a:ext cx="1920240" cy="493776"/>
            <a:chOff x="0" y="0"/>
            <a:chExt cx="2560320" cy="658368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560320" cy="658368"/>
            </a:xfrm>
            <a:custGeom>
              <a:avLst/>
              <a:gdLst/>
              <a:ahLst/>
              <a:cxnLst/>
              <a:rect r="r" b="b" t="t" l="l"/>
              <a:pathLst>
                <a:path h="658368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775" r="0" b="-25775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0"/>
              <a:ext cx="2560320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↓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0277475" y="7397115"/>
            <a:ext cx="1939290" cy="622554"/>
            <a:chOff x="0" y="0"/>
            <a:chExt cx="2585720" cy="830072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2585720" cy="830072"/>
            </a:xfrm>
            <a:custGeom>
              <a:avLst/>
              <a:gdLst/>
              <a:ahLst/>
              <a:cxnLst/>
              <a:rect r="r" b="b" t="t" l="l"/>
              <a:pathLst>
                <a:path h="830072" w="2585720">
                  <a:moveTo>
                    <a:pt x="0" y="150876"/>
                  </a:moveTo>
                  <a:cubicBezTo>
                    <a:pt x="0" y="67564"/>
                    <a:pt x="67564" y="0"/>
                    <a:pt x="150876" y="0"/>
                  </a:cubicBezTo>
                  <a:lnTo>
                    <a:pt x="2434844" y="0"/>
                  </a:lnTo>
                  <a:cubicBezTo>
                    <a:pt x="2518156" y="0"/>
                    <a:pt x="2585720" y="67564"/>
                    <a:pt x="2585720" y="150876"/>
                  </a:cubicBezTo>
                  <a:lnTo>
                    <a:pt x="2585720" y="679196"/>
                  </a:lnTo>
                  <a:cubicBezTo>
                    <a:pt x="2585720" y="762508"/>
                    <a:pt x="2518156" y="830072"/>
                    <a:pt x="2434844" y="830072"/>
                  </a:cubicBezTo>
                  <a:lnTo>
                    <a:pt x="150876" y="830072"/>
                  </a:lnTo>
                  <a:cubicBezTo>
                    <a:pt x="67564" y="830072"/>
                    <a:pt x="0" y="762508"/>
                    <a:pt x="0" y="679196"/>
                  </a:cubicBezTo>
                  <a:close/>
                </a:path>
              </a:pathLst>
            </a:custGeom>
            <a:solidFill>
              <a:srgbClr val="FF9E7A"/>
            </a:solidFill>
            <a:ln w="19050" cap="sq">
              <a:solidFill>
                <a:srgbClr val="162746"/>
              </a:solidFill>
              <a:prstDash val="solid"/>
              <a:miter/>
            </a:ln>
          </p:spPr>
        </p:sp>
      </p:grpSp>
      <p:grpSp>
        <p:nvGrpSpPr>
          <p:cNvPr name="Group 83" id="83"/>
          <p:cNvGrpSpPr/>
          <p:nvPr/>
        </p:nvGrpSpPr>
        <p:grpSpPr>
          <a:xfrm rot="0">
            <a:off x="10287000" y="7406640"/>
            <a:ext cx="1920240" cy="603504"/>
            <a:chOff x="0" y="0"/>
            <a:chExt cx="2560320" cy="804672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560320" cy="804672"/>
            </a:xfrm>
            <a:custGeom>
              <a:avLst/>
              <a:gdLst/>
              <a:ahLst/>
              <a:cxnLst/>
              <a:rect r="r" b="b" t="t" l="l"/>
              <a:pathLst>
                <a:path h="80467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997" r="0" b="-11997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9525"/>
              <a:ext cx="2560320" cy="8141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Control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2618720" y="7406640"/>
            <a:ext cx="4800600" cy="603504"/>
            <a:chOff x="0" y="0"/>
            <a:chExt cx="6400800" cy="80467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6400800" cy="804672"/>
            </a:xfrm>
            <a:custGeom>
              <a:avLst/>
              <a:gdLst/>
              <a:ahLst/>
              <a:cxnLst/>
              <a:rect r="r" b="b" t="t" l="l"/>
              <a:pathLst>
                <a:path h="804672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994" r="0" b="-104994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9525"/>
              <a:ext cx="6400800" cy="8141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FFFFFF"/>
                  </a:solidFill>
                  <a:latin typeface="Radley"/>
                  <a:ea typeface="Radley"/>
                  <a:cs typeface="Radley"/>
                  <a:sym typeface="Radley"/>
                </a:rPr>
                <a:t>Budget vs Actual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822960" y="8641080"/>
            <a:ext cx="16637508" cy="617220"/>
            <a:chOff x="0" y="0"/>
            <a:chExt cx="22183344" cy="82296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2183344" cy="822960"/>
            </a:xfrm>
            <a:custGeom>
              <a:avLst/>
              <a:gdLst/>
              <a:ahLst/>
              <a:cxnLst/>
              <a:rect r="r" b="b" t="t" l="l"/>
              <a:pathLst>
                <a:path h="822960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5230" r="0" b="-47523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0"/>
              <a:ext cx="22183344" cy="822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Radley"/>
                  <a:ea typeface="Radley"/>
                  <a:cs typeface="Radley"/>
                  <a:sym typeface="Radley"/>
                </a:rPr>
                <a:t>Slicers cover Year, Month, State, Location, Product, Customer and Salesperson.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45C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390650"/>
            <a:chOff x="0" y="0"/>
            <a:chExt cx="24408790" cy="1854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1854200"/>
            </a:xfrm>
            <a:custGeom>
              <a:avLst/>
              <a:gdLst/>
              <a:ahLst/>
              <a:cxnLst/>
              <a:rect r="r" b="b" t="t" l="l"/>
              <a:pathLst>
                <a:path h="18542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854200"/>
                  </a:lnTo>
                  <a:lnTo>
                    <a:pt x="0" y="1854200"/>
                  </a:lnTo>
                  <a:close/>
                </a:path>
              </a:pathLst>
            </a:custGeom>
            <a:solidFill>
              <a:srgbClr val="D4EDF4"/>
            </a:solidFill>
            <a:ln w="19050" cap="sq">
              <a:solidFill>
                <a:srgbClr val="162746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0"/>
            <a:ext cx="14401800" cy="1371600"/>
            <a:chOff x="0" y="0"/>
            <a:chExt cx="19202400" cy="1828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2024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592" r="0" b="-15459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9202400" cy="1828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spc="-84">
                  <a:solidFill>
                    <a:srgbClr val="345C72"/>
                  </a:solidFill>
                  <a:latin typeface="Arsenal"/>
                  <a:ea typeface="Arsenal"/>
                  <a:cs typeface="Arsenal"/>
                  <a:sym typeface="Arsenal"/>
                </a:rPr>
                <a:t>6. Executive Overview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088868" y="0"/>
            <a:ext cx="1371600" cy="1371600"/>
            <a:chOff x="0" y="0"/>
            <a:chExt cx="1828800" cy="1828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1828800" cy="1828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520"/>
                </a:lnSpc>
              </a:pPr>
              <a:r>
                <a:rPr lang="en-US" sz="210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7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1508760"/>
            <a:ext cx="16637508" cy="480060"/>
            <a:chOff x="0" y="0"/>
            <a:chExt cx="22183344" cy="6400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183344" cy="640080"/>
            </a:xfrm>
            <a:custGeom>
              <a:avLst/>
              <a:gdLst/>
              <a:ahLst/>
              <a:cxnLst/>
              <a:rect r="r" b="b" t="t" l="l"/>
              <a:pathLst>
                <a:path h="640080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5295" r="0" b="-62529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22183344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Radley"/>
                  <a:ea typeface="Radley"/>
                  <a:cs typeface="Radley"/>
                  <a:sym typeface="Radley"/>
                </a:rPr>
                <a:t>Power BI Phase 5 – the management starting point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22960" y="9642348"/>
            <a:ext cx="10972800" cy="411480"/>
            <a:chOff x="0" y="0"/>
            <a:chExt cx="14630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4630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FFFFFF"/>
                  </a:solidFill>
                  <a:latin typeface="Radley"/>
                  <a:ea typeface="Radley"/>
                  <a:cs typeface="Radley"/>
                  <a:sym typeface="Radley"/>
                </a:rPr>
                <a:t>Power BI Sales Intelligence Dashboard • Presentation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15816" y="2255996"/>
            <a:ext cx="3122333" cy="1934527"/>
            <a:chOff x="0" y="0"/>
            <a:chExt cx="4163111" cy="257937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163187" cy="2579370"/>
            </a:xfrm>
            <a:custGeom>
              <a:avLst/>
              <a:gdLst/>
              <a:ahLst/>
              <a:cxnLst/>
              <a:rect r="r" b="b" t="t" l="l"/>
              <a:pathLst>
                <a:path h="2579370" w="4163187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4015740" y="0"/>
                  </a:lnTo>
                  <a:cubicBezTo>
                    <a:pt x="4097147" y="0"/>
                    <a:pt x="4163187" y="66040"/>
                    <a:pt x="4163187" y="147447"/>
                  </a:cubicBezTo>
                  <a:lnTo>
                    <a:pt x="4163187" y="2431923"/>
                  </a:lnTo>
                  <a:cubicBezTo>
                    <a:pt x="4163187" y="2513330"/>
                    <a:pt x="4097147" y="2579370"/>
                    <a:pt x="4015740" y="2579370"/>
                  </a:cubicBezTo>
                  <a:lnTo>
                    <a:pt x="147447" y="2579370"/>
                  </a:lnTo>
                  <a:cubicBezTo>
                    <a:pt x="66040" y="2579370"/>
                    <a:pt x="0" y="2513330"/>
                    <a:pt x="0" y="2431923"/>
                  </a:cubicBezTo>
                  <a:close/>
                </a:path>
              </a:pathLst>
            </a:custGeom>
            <a:solidFill>
              <a:srgbClr val="FF9E7A"/>
            </a:solidFill>
            <a:ln w="14288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069848" y="2468880"/>
            <a:ext cx="2614270" cy="411480"/>
            <a:chOff x="0" y="0"/>
            <a:chExt cx="3485693" cy="5486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485692" cy="548640"/>
            </a:xfrm>
            <a:custGeom>
              <a:avLst/>
              <a:gdLst/>
              <a:ahLst/>
              <a:cxnLst/>
              <a:rect r="r" b="b" t="t" l="l"/>
              <a:pathLst>
                <a:path h="548640" w="3485692">
                  <a:moveTo>
                    <a:pt x="0" y="0"/>
                  </a:moveTo>
                  <a:lnTo>
                    <a:pt x="3485692" y="0"/>
                  </a:lnTo>
                  <a:lnTo>
                    <a:pt x="3485692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794" r="0" b="-73794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3485693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Total Sales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69848" y="2948940"/>
            <a:ext cx="2614270" cy="548640"/>
            <a:chOff x="0" y="0"/>
            <a:chExt cx="3485693" cy="7315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485692" cy="731520"/>
            </a:xfrm>
            <a:custGeom>
              <a:avLst/>
              <a:gdLst/>
              <a:ahLst/>
              <a:cxnLst/>
              <a:rect r="r" b="b" t="t" l="l"/>
              <a:pathLst>
                <a:path h="731520" w="3485692">
                  <a:moveTo>
                    <a:pt x="0" y="0"/>
                  </a:moveTo>
                  <a:lnTo>
                    <a:pt x="3485692" y="0"/>
                  </a:lnTo>
                  <a:lnTo>
                    <a:pt x="348569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846" r="0" b="-42846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3485693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Dashboard value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69848" y="3566160"/>
            <a:ext cx="2614270" cy="411480"/>
            <a:chOff x="0" y="0"/>
            <a:chExt cx="3485693" cy="5486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485692" cy="548640"/>
            </a:xfrm>
            <a:custGeom>
              <a:avLst/>
              <a:gdLst/>
              <a:ahLst/>
              <a:cxnLst/>
              <a:rect r="r" b="b" t="t" l="l"/>
              <a:pathLst>
                <a:path h="548640" w="3485692">
                  <a:moveTo>
                    <a:pt x="0" y="0"/>
                  </a:moveTo>
                  <a:lnTo>
                    <a:pt x="3485692" y="0"/>
                  </a:lnTo>
                  <a:lnTo>
                    <a:pt x="3485692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794" r="0" b="-73794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3485693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Overall revenue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4198182" y="2255996"/>
            <a:ext cx="3122333" cy="1934527"/>
            <a:chOff x="0" y="0"/>
            <a:chExt cx="4163111" cy="257937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163187" cy="2579370"/>
            </a:xfrm>
            <a:custGeom>
              <a:avLst/>
              <a:gdLst/>
              <a:ahLst/>
              <a:cxnLst/>
              <a:rect r="r" b="b" t="t" l="l"/>
              <a:pathLst>
                <a:path h="2579370" w="4163187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4015740" y="0"/>
                  </a:lnTo>
                  <a:cubicBezTo>
                    <a:pt x="4097147" y="0"/>
                    <a:pt x="4163187" y="66040"/>
                    <a:pt x="4163187" y="147447"/>
                  </a:cubicBezTo>
                  <a:lnTo>
                    <a:pt x="4163187" y="2431923"/>
                  </a:lnTo>
                  <a:cubicBezTo>
                    <a:pt x="4163187" y="2513330"/>
                    <a:pt x="4097147" y="2579370"/>
                    <a:pt x="4015740" y="2579370"/>
                  </a:cubicBezTo>
                  <a:lnTo>
                    <a:pt x="147447" y="2579370"/>
                  </a:lnTo>
                  <a:cubicBezTo>
                    <a:pt x="66040" y="2579370"/>
                    <a:pt x="0" y="2513330"/>
                    <a:pt x="0" y="2431923"/>
                  </a:cubicBezTo>
                  <a:close/>
                </a:path>
              </a:pathLst>
            </a:custGeom>
            <a:solidFill>
              <a:srgbClr val="FF9E7A"/>
            </a:solidFill>
            <a:ln w="14288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4452214" y="2468880"/>
            <a:ext cx="2614270" cy="411480"/>
            <a:chOff x="0" y="0"/>
            <a:chExt cx="3485693" cy="5486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485692" cy="548640"/>
            </a:xfrm>
            <a:custGeom>
              <a:avLst/>
              <a:gdLst/>
              <a:ahLst/>
              <a:cxnLst/>
              <a:rect r="r" b="b" t="t" l="l"/>
              <a:pathLst>
                <a:path h="548640" w="3485692">
                  <a:moveTo>
                    <a:pt x="0" y="0"/>
                  </a:moveTo>
                  <a:lnTo>
                    <a:pt x="3485692" y="0"/>
                  </a:lnTo>
                  <a:lnTo>
                    <a:pt x="3485692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794" r="0" b="-73794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3485693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Total Profit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4452214" y="2948940"/>
            <a:ext cx="2614270" cy="548640"/>
            <a:chOff x="0" y="0"/>
            <a:chExt cx="3485693" cy="7315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485692" cy="731520"/>
            </a:xfrm>
            <a:custGeom>
              <a:avLst/>
              <a:gdLst/>
              <a:ahLst/>
              <a:cxnLst/>
              <a:rect r="r" b="b" t="t" l="l"/>
              <a:pathLst>
                <a:path h="731520" w="3485692">
                  <a:moveTo>
                    <a:pt x="0" y="0"/>
                  </a:moveTo>
                  <a:lnTo>
                    <a:pt x="3485692" y="0"/>
                  </a:lnTo>
                  <a:lnTo>
                    <a:pt x="348569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846" r="0" b="-42846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3485693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Dashboard value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4452214" y="3566160"/>
            <a:ext cx="2614270" cy="411480"/>
            <a:chOff x="0" y="0"/>
            <a:chExt cx="3485693" cy="5486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485692" cy="548640"/>
            </a:xfrm>
            <a:custGeom>
              <a:avLst/>
              <a:gdLst/>
              <a:ahLst/>
              <a:cxnLst/>
              <a:rect r="r" b="b" t="t" l="l"/>
              <a:pathLst>
                <a:path h="548640" w="3485692">
                  <a:moveTo>
                    <a:pt x="0" y="0"/>
                  </a:moveTo>
                  <a:lnTo>
                    <a:pt x="3485692" y="0"/>
                  </a:lnTo>
                  <a:lnTo>
                    <a:pt x="3485692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794" r="0" b="-73794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3485693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Profit generated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580547" y="2255996"/>
            <a:ext cx="3122333" cy="1934527"/>
            <a:chOff x="0" y="0"/>
            <a:chExt cx="4163111" cy="257937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163187" cy="2579370"/>
            </a:xfrm>
            <a:custGeom>
              <a:avLst/>
              <a:gdLst/>
              <a:ahLst/>
              <a:cxnLst/>
              <a:rect r="r" b="b" t="t" l="l"/>
              <a:pathLst>
                <a:path h="2579370" w="4163187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4015740" y="0"/>
                  </a:lnTo>
                  <a:cubicBezTo>
                    <a:pt x="4097147" y="0"/>
                    <a:pt x="4163187" y="66040"/>
                    <a:pt x="4163187" y="147447"/>
                  </a:cubicBezTo>
                  <a:lnTo>
                    <a:pt x="4163187" y="2431923"/>
                  </a:lnTo>
                  <a:cubicBezTo>
                    <a:pt x="4163187" y="2513330"/>
                    <a:pt x="4097147" y="2579370"/>
                    <a:pt x="4015740" y="2579370"/>
                  </a:cubicBezTo>
                  <a:lnTo>
                    <a:pt x="147447" y="2579370"/>
                  </a:lnTo>
                  <a:cubicBezTo>
                    <a:pt x="66040" y="2579370"/>
                    <a:pt x="0" y="2513330"/>
                    <a:pt x="0" y="2431923"/>
                  </a:cubicBezTo>
                  <a:close/>
                </a:path>
              </a:pathLst>
            </a:custGeom>
            <a:solidFill>
              <a:srgbClr val="FF9E7A"/>
            </a:solidFill>
            <a:ln w="14288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7834579" y="2468880"/>
            <a:ext cx="2614270" cy="411480"/>
            <a:chOff x="0" y="0"/>
            <a:chExt cx="3485693" cy="5486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485692" cy="548640"/>
            </a:xfrm>
            <a:custGeom>
              <a:avLst/>
              <a:gdLst/>
              <a:ahLst/>
              <a:cxnLst/>
              <a:rect r="r" b="b" t="t" l="l"/>
              <a:pathLst>
                <a:path h="548640" w="3485692">
                  <a:moveTo>
                    <a:pt x="0" y="0"/>
                  </a:moveTo>
                  <a:lnTo>
                    <a:pt x="3485692" y="0"/>
                  </a:lnTo>
                  <a:lnTo>
                    <a:pt x="3485692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794" r="0" b="-73794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3485693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Profit Margin %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7834579" y="2948940"/>
            <a:ext cx="2614270" cy="548640"/>
            <a:chOff x="0" y="0"/>
            <a:chExt cx="3485693" cy="7315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485692" cy="731520"/>
            </a:xfrm>
            <a:custGeom>
              <a:avLst/>
              <a:gdLst/>
              <a:ahLst/>
              <a:cxnLst/>
              <a:rect r="r" b="b" t="t" l="l"/>
              <a:pathLst>
                <a:path h="731520" w="3485692">
                  <a:moveTo>
                    <a:pt x="0" y="0"/>
                  </a:moveTo>
                  <a:lnTo>
                    <a:pt x="3485692" y="0"/>
                  </a:lnTo>
                  <a:lnTo>
                    <a:pt x="348569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846" r="0" b="-42846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3485693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Dashboard value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7834579" y="3566160"/>
            <a:ext cx="2614270" cy="411480"/>
            <a:chOff x="0" y="0"/>
            <a:chExt cx="3485693" cy="5486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485692" cy="548640"/>
            </a:xfrm>
            <a:custGeom>
              <a:avLst/>
              <a:gdLst/>
              <a:ahLst/>
              <a:cxnLst/>
              <a:rect r="r" b="b" t="t" l="l"/>
              <a:pathLst>
                <a:path h="548640" w="3485692">
                  <a:moveTo>
                    <a:pt x="0" y="0"/>
                  </a:moveTo>
                  <a:lnTo>
                    <a:pt x="3485692" y="0"/>
                  </a:lnTo>
                  <a:lnTo>
                    <a:pt x="3485692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794" r="0" b="-73794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"/>
              <a:ext cx="3485693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Profitability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0962913" y="2255996"/>
            <a:ext cx="3122333" cy="1934527"/>
            <a:chOff x="0" y="0"/>
            <a:chExt cx="4163111" cy="257937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163187" cy="2579370"/>
            </a:xfrm>
            <a:custGeom>
              <a:avLst/>
              <a:gdLst/>
              <a:ahLst/>
              <a:cxnLst/>
              <a:rect r="r" b="b" t="t" l="l"/>
              <a:pathLst>
                <a:path h="2579370" w="4163187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4015740" y="0"/>
                  </a:lnTo>
                  <a:cubicBezTo>
                    <a:pt x="4097147" y="0"/>
                    <a:pt x="4163187" y="66040"/>
                    <a:pt x="4163187" y="147447"/>
                  </a:cubicBezTo>
                  <a:lnTo>
                    <a:pt x="4163187" y="2431923"/>
                  </a:lnTo>
                  <a:cubicBezTo>
                    <a:pt x="4163187" y="2513330"/>
                    <a:pt x="4097147" y="2579370"/>
                    <a:pt x="4015740" y="2579370"/>
                  </a:cubicBezTo>
                  <a:lnTo>
                    <a:pt x="147447" y="2579370"/>
                  </a:lnTo>
                  <a:cubicBezTo>
                    <a:pt x="66040" y="2579370"/>
                    <a:pt x="0" y="2513330"/>
                    <a:pt x="0" y="2431923"/>
                  </a:cubicBezTo>
                  <a:close/>
                </a:path>
              </a:pathLst>
            </a:custGeom>
            <a:solidFill>
              <a:srgbClr val="FF9E7A"/>
            </a:solidFill>
            <a:ln w="14288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11216945" y="2468880"/>
            <a:ext cx="2614270" cy="411480"/>
            <a:chOff x="0" y="0"/>
            <a:chExt cx="3485693" cy="5486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485692" cy="548640"/>
            </a:xfrm>
            <a:custGeom>
              <a:avLst/>
              <a:gdLst/>
              <a:ahLst/>
              <a:cxnLst/>
              <a:rect r="r" b="b" t="t" l="l"/>
              <a:pathLst>
                <a:path h="548640" w="3485692">
                  <a:moveTo>
                    <a:pt x="0" y="0"/>
                  </a:moveTo>
                  <a:lnTo>
                    <a:pt x="3485692" y="0"/>
                  </a:lnTo>
                  <a:lnTo>
                    <a:pt x="3485692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794" r="0" b="-73794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9525"/>
              <a:ext cx="3485693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Total Orders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1216945" y="2948940"/>
            <a:ext cx="2614270" cy="548640"/>
            <a:chOff x="0" y="0"/>
            <a:chExt cx="3485693" cy="73152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485692" cy="731520"/>
            </a:xfrm>
            <a:custGeom>
              <a:avLst/>
              <a:gdLst/>
              <a:ahLst/>
              <a:cxnLst/>
              <a:rect r="r" b="b" t="t" l="l"/>
              <a:pathLst>
                <a:path h="731520" w="3485692">
                  <a:moveTo>
                    <a:pt x="0" y="0"/>
                  </a:moveTo>
                  <a:lnTo>
                    <a:pt x="3485692" y="0"/>
                  </a:lnTo>
                  <a:lnTo>
                    <a:pt x="348569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846" r="0" b="-42846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9525"/>
              <a:ext cx="3485693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Dashboard value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1216945" y="3566160"/>
            <a:ext cx="2614270" cy="411480"/>
            <a:chOff x="0" y="0"/>
            <a:chExt cx="3485693" cy="5486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485692" cy="548640"/>
            </a:xfrm>
            <a:custGeom>
              <a:avLst/>
              <a:gdLst/>
              <a:ahLst/>
              <a:cxnLst/>
              <a:rect r="r" b="b" t="t" l="l"/>
              <a:pathLst>
                <a:path h="548640" w="3485692">
                  <a:moveTo>
                    <a:pt x="0" y="0"/>
                  </a:moveTo>
                  <a:lnTo>
                    <a:pt x="3485692" y="0"/>
                  </a:lnTo>
                  <a:lnTo>
                    <a:pt x="3485692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794" r="0" b="-73794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9525"/>
              <a:ext cx="3485693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Order volume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4345279" y="2255996"/>
            <a:ext cx="3122333" cy="1934527"/>
            <a:chOff x="0" y="0"/>
            <a:chExt cx="4163111" cy="257937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163187" cy="2579370"/>
            </a:xfrm>
            <a:custGeom>
              <a:avLst/>
              <a:gdLst/>
              <a:ahLst/>
              <a:cxnLst/>
              <a:rect r="r" b="b" t="t" l="l"/>
              <a:pathLst>
                <a:path h="2579370" w="4163187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4015740" y="0"/>
                  </a:lnTo>
                  <a:cubicBezTo>
                    <a:pt x="4097147" y="0"/>
                    <a:pt x="4163187" y="66040"/>
                    <a:pt x="4163187" y="147447"/>
                  </a:cubicBezTo>
                  <a:lnTo>
                    <a:pt x="4163187" y="2431923"/>
                  </a:lnTo>
                  <a:cubicBezTo>
                    <a:pt x="4163187" y="2513330"/>
                    <a:pt x="4097147" y="2579370"/>
                    <a:pt x="4015740" y="2579370"/>
                  </a:cubicBezTo>
                  <a:lnTo>
                    <a:pt x="147447" y="2579370"/>
                  </a:lnTo>
                  <a:cubicBezTo>
                    <a:pt x="66040" y="2579370"/>
                    <a:pt x="0" y="2513330"/>
                    <a:pt x="0" y="2431923"/>
                  </a:cubicBezTo>
                  <a:close/>
                </a:path>
              </a:pathLst>
            </a:custGeom>
            <a:solidFill>
              <a:srgbClr val="FF9E7A"/>
            </a:solidFill>
            <a:ln w="14288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14599310" y="2468880"/>
            <a:ext cx="2614270" cy="411480"/>
            <a:chOff x="0" y="0"/>
            <a:chExt cx="3485693" cy="5486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485692" cy="548640"/>
            </a:xfrm>
            <a:custGeom>
              <a:avLst/>
              <a:gdLst/>
              <a:ahLst/>
              <a:cxnLst/>
              <a:rect r="r" b="b" t="t" l="l"/>
              <a:pathLst>
                <a:path h="548640" w="3485692">
                  <a:moveTo>
                    <a:pt x="0" y="0"/>
                  </a:moveTo>
                  <a:lnTo>
                    <a:pt x="3485692" y="0"/>
                  </a:lnTo>
                  <a:lnTo>
                    <a:pt x="3485692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794" r="0" b="-73794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9525"/>
              <a:ext cx="3485693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Budget Achievement %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4599310" y="2948940"/>
            <a:ext cx="2614270" cy="548640"/>
            <a:chOff x="0" y="0"/>
            <a:chExt cx="3485693" cy="73152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485692" cy="731520"/>
            </a:xfrm>
            <a:custGeom>
              <a:avLst/>
              <a:gdLst/>
              <a:ahLst/>
              <a:cxnLst/>
              <a:rect r="r" b="b" t="t" l="l"/>
              <a:pathLst>
                <a:path h="731520" w="3485692">
                  <a:moveTo>
                    <a:pt x="0" y="0"/>
                  </a:moveTo>
                  <a:lnTo>
                    <a:pt x="3485692" y="0"/>
                  </a:lnTo>
                  <a:lnTo>
                    <a:pt x="348569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846" r="0" b="-42846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9525"/>
              <a:ext cx="3485693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Dashboard value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4599310" y="3566160"/>
            <a:ext cx="2614270" cy="411480"/>
            <a:chOff x="0" y="0"/>
            <a:chExt cx="3485693" cy="5486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485692" cy="548640"/>
            </a:xfrm>
            <a:custGeom>
              <a:avLst/>
              <a:gdLst/>
              <a:ahLst/>
              <a:cxnLst/>
              <a:rect r="r" b="b" t="t" l="l"/>
              <a:pathLst>
                <a:path h="548640" w="3485692">
                  <a:moveTo>
                    <a:pt x="0" y="0"/>
                  </a:moveTo>
                  <a:lnTo>
                    <a:pt x="3485692" y="0"/>
                  </a:lnTo>
                  <a:lnTo>
                    <a:pt x="3485692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794" r="0" b="-73794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9525"/>
              <a:ext cx="3485693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Actual vs target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815816" y="4519136"/>
            <a:ext cx="8161592" cy="2277428"/>
            <a:chOff x="0" y="0"/>
            <a:chExt cx="10882122" cy="303657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0882123" cy="3036570"/>
            </a:xfrm>
            <a:custGeom>
              <a:avLst/>
              <a:gdLst/>
              <a:ahLst/>
              <a:cxnLst/>
              <a:rect r="r" b="b" t="t" l="l"/>
              <a:pathLst>
                <a:path h="3036570" w="10882123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10734929" y="0"/>
                  </a:lnTo>
                  <a:cubicBezTo>
                    <a:pt x="10816210" y="0"/>
                    <a:pt x="10882123" y="65913"/>
                    <a:pt x="10882123" y="147193"/>
                  </a:cubicBezTo>
                  <a:lnTo>
                    <a:pt x="10882123" y="2889377"/>
                  </a:lnTo>
                  <a:cubicBezTo>
                    <a:pt x="10882123" y="2970657"/>
                    <a:pt x="10816210" y="3036570"/>
                    <a:pt x="10734929" y="3036570"/>
                  </a:cubicBezTo>
                  <a:lnTo>
                    <a:pt x="147193" y="3036570"/>
                  </a:lnTo>
                  <a:cubicBezTo>
                    <a:pt x="65913" y="3036570"/>
                    <a:pt x="0" y="2970657"/>
                    <a:pt x="0" y="2889377"/>
                  </a:cubicBezTo>
                  <a:close/>
                </a:path>
              </a:pathLst>
            </a:custGeom>
            <a:solidFill>
              <a:srgbClr val="D4EDF4"/>
            </a:solidFill>
            <a:ln w="14288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73" id="73"/>
          <p:cNvGrpSpPr/>
          <p:nvPr/>
        </p:nvGrpSpPr>
        <p:grpSpPr>
          <a:xfrm rot="0">
            <a:off x="1165860" y="4732020"/>
            <a:ext cx="7461504" cy="411480"/>
            <a:chOff x="0" y="0"/>
            <a:chExt cx="9948672" cy="54864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9948672" cy="548640"/>
            </a:xfrm>
            <a:custGeom>
              <a:avLst/>
              <a:gdLst/>
              <a:ahLst/>
              <a:cxnLst/>
              <a:rect r="r" b="b" t="t" l="l"/>
              <a:pathLst>
                <a:path h="548640" w="9948672">
                  <a:moveTo>
                    <a:pt x="0" y="0"/>
                  </a:moveTo>
                  <a:lnTo>
                    <a:pt x="9948672" y="0"/>
                  </a:lnTo>
                  <a:lnTo>
                    <a:pt x="9948672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3328" r="0" b="-303328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0"/>
              <a:ext cx="9948672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Sales trend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165860" y="5212080"/>
            <a:ext cx="7461504" cy="617220"/>
            <a:chOff x="0" y="0"/>
            <a:chExt cx="9948672" cy="82296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9948672" cy="822960"/>
            </a:xfrm>
            <a:custGeom>
              <a:avLst/>
              <a:gdLst/>
              <a:ahLst/>
              <a:cxnLst/>
              <a:rect r="r" b="b" t="t" l="l"/>
              <a:pathLst>
                <a:path h="822960" w="9948672">
                  <a:moveTo>
                    <a:pt x="0" y="0"/>
                  </a:moveTo>
                  <a:lnTo>
                    <a:pt x="9948672" y="0"/>
                  </a:lnTo>
                  <a:lnTo>
                    <a:pt x="9948672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5552" r="0" b="-185552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9525"/>
              <a:ext cx="9948672" cy="8134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Line chart by time</a:t>
              </a:r>
            </a:p>
          </p:txBody>
        </p:sp>
      </p:grpSp>
      <p:sp>
        <p:nvSpPr>
          <p:cNvPr name="TextBox 79" id="79"/>
          <p:cNvSpPr txBox="true"/>
          <p:nvPr/>
        </p:nvSpPr>
        <p:spPr>
          <a:xfrm rot="0">
            <a:off x="1165860" y="5897880"/>
            <a:ext cx="7461504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2A2E30"/>
                </a:solidFill>
                <a:latin typeface="Radley"/>
                <a:ea typeface="Radley"/>
                <a:cs typeface="Radley"/>
                <a:sym typeface="Radley"/>
              </a:rPr>
              <a:t>Use this area to explain the movement of sales across the selected period.</a:t>
            </a:r>
          </a:p>
        </p:txBody>
      </p:sp>
      <p:grpSp>
        <p:nvGrpSpPr>
          <p:cNvPr name="Group 80" id="80"/>
          <p:cNvGrpSpPr/>
          <p:nvPr/>
        </p:nvGrpSpPr>
        <p:grpSpPr>
          <a:xfrm rot="0">
            <a:off x="9306020" y="4519136"/>
            <a:ext cx="8161592" cy="2277428"/>
            <a:chOff x="0" y="0"/>
            <a:chExt cx="10882122" cy="303657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0882123" cy="3036570"/>
            </a:xfrm>
            <a:custGeom>
              <a:avLst/>
              <a:gdLst/>
              <a:ahLst/>
              <a:cxnLst/>
              <a:rect r="r" b="b" t="t" l="l"/>
              <a:pathLst>
                <a:path h="3036570" w="10882123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10734929" y="0"/>
                  </a:lnTo>
                  <a:cubicBezTo>
                    <a:pt x="10816210" y="0"/>
                    <a:pt x="10882123" y="65913"/>
                    <a:pt x="10882123" y="147193"/>
                  </a:cubicBezTo>
                  <a:lnTo>
                    <a:pt x="10882123" y="2889377"/>
                  </a:lnTo>
                  <a:cubicBezTo>
                    <a:pt x="10882123" y="2970657"/>
                    <a:pt x="10816210" y="3036570"/>
                    <a:pt x="10734929" y="3036570"/>
                  </a:cubicBezTo>
                  <a:lnTo>
                    <a:pt x="147193" y="3036570"/>
                  </a:lnTo>
                  <a:cubicBezTo>
                    <a:pt x="65913" y="3036570"/>
                    <a:pt x="0" y="2970657"/>
                    <a:pt x="0" y="2889377"/>
                  </a:cubicBezTo>
                  <a:close/>
                </a:path>
              </a:pathLst>
            </a:custGeom>
            <a:solidFill>
              <a:srgbClr val="D4EDF4"/>
            </a:solidFill>
            <a:ln w="14288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82" id="82"/>
          <p:cNvGrpSpPr/>
          <p:nvPr/>
        </p:nvGrpSpPr>
        <p:grpSpPr>
          <a:xfrm rot="0">
            <a:off x="9656064" y="4732020"/>
            <a:ext cx="7461504" cy="411480"/>
            <a:chOff x="0" y="0"/>
            <a:chExt cx="9948672" cy="54864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9948672" cy="548640"/>
            </a:xfrm>
            <a:custGeom>
              <a:avLst/>
              <a:gdLst/>
              <a:ahLst/>
              <a:cxnLst/>
              <a:rect r="r" b="b" t="t" l="l"/>
              <a:pathLst>
                <a:path h="548640" w="9948672">
                  <a:moveTo>
                    <a:pt x="0" y="0"/>
                  </a:moveTo>
                  <a:lnTo>
                    <a:pt x="9948672" y="0"/>
                  </a:lnTo>
                  <a:lnTo>
                    <a:pt x="9948672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3328" r="0" b="-303328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9948672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Performance breakdown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9656064" y="5212080"/>
            <a:ext cx="7461504" cy="617220"/>
            <a:chOff x="0" y="0"/>
            <a:chExt cx="9948672" cy="82296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9948672" cy="822960"/>
            </a:xfrm>
            <a:custGeom>
              <a:avLst/>
              <a:gdLst/>
              <a:ahLst/>
              <a:cxnLst/>
              <a:rect r="r" b="b" t="t" l="l"/>
              <a:pathLst>
                <a:path h="822960" w="9948672">
                  <a:moveTo>
                    <a:pt x="0" y="0"/>
                  </a:moveTo>
                  <a:lnTo>
                    <a:pt x="9948672" y="0"/>
                  </a:lnTo>
                  <a:lnTo>
                    <a:pt x="9948672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5552" r="0" b="-185552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9525"/>
              <a:ext cx="9948672" cy="8134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Year / State / Product / Customer</a:t>
              </a:r>
            </a:p>
          </p:txBody>
        </p:sp>
      </p:grpSp>
      <p:sp>
        <p:nvSpPr>
          <p:cNvPr name="TextBox 88" id="88"/>
          <p:cNvSpPr txBox="true"/>
          <p:nvPr/>
        </p:nvSpPr>
        <p:spPr>
          <a:xfrm rot="0">
            <a:off x="9656064" y="5897880"/>
            <a:ext cx="7461504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2A2E30"/>
                </a:solidFill>
                <a:latin typeface="Radley"/>
                <a:ea typeface="Radley"/>
                <a:cs typeface="Radley"/>
                <a:sym typeface="Radley"/>
              </a:rPr>
              <a:t>Use cross-filtering to move from the overall KPI view to the main performance drivers.</a:t>
            </a:r>
          </a:p>
        </p:txBody>
      </p:sp>
      <p:grpSp>
        <p:nvGrpSpPr>
          <p:cNvPr name="Group 89" id="89"/>
          <p:cNvGrpSpPr/>
          <p:nvPr/>
        </p:nvGrpSpPr>
        <p:grpSpPr>
          <a:xfrm rot="0">
            <a:off x="815816" y="7125176"/>
            <a:ext cx="5331524" cy="1797367"/>
            <a:chOff x="0" y="0"/>
            <a:chExt cx="7108698" cy="239649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7108698" cy="2396490"/>
            </a:xfrm>
            <a:custGeom>
              <a:avLst/>
              <a:gdLst/>
              <a:ahLst/>
              <a:cxnLst/>
              <a:rect r="r" b="b" t="t" l="l"/>
              <a:pathLst>
                <a:path h="2396490" w="7108698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6961251" y="0"/>
                  </a:lnTo>
                  <a:cubicBezTo>
                    <a:pt x="7042658" y="0"/>
                    <a:pt x="7108698" y="66040"/>
                    <a:pt x="7108698" y="147447"/>
                  </a:cubicBezTo>
                  <a:lnTo>
                    <a:pt x="7108698" y="2249043"/>
                  </a:lnTo>
                  <a:cubicBezTo>
                    <a:pt x="7108698" y="2330450"/>
                    <a:pt x="7042658" y="2396490"/>
                    <a:pt x="6961251" y="2396490"/>
                  </a:cubicBezTo>
                  <a:lnTo>
                    <a:pt x="147447" y="2396490"/>
                  </a:lnTo>
                  <a:cubicBezTo>
                    <a:pt x="66040" y="2396490"/>
                    <a:pt x="0" y="2330450"/>
                    <a:pt x="0" y="2249043"/>
                  </a:cubicBezTo>
                  <a:close/>
                </a:path>
              </a:pathLst>
            </a:custGeom>
            <a:solidFill>
              <a:srgbClr val="D4EDF4"/>
            </a:solidFill>
            <a:ln w="14288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91" id="91"/>
          <p:cNvGrpSpPr/>
          <p:nvPr/>
        </p:nvGrpSpPr>
        <p:grpSpPr>
          <a:xfrm rot="0">
            <a:off x="1165860" y="7338060"/>
            <a:ext cx="4631436" cy="411480"/>
            <a:chOff x="0" y="0"/>
            <a:chExt cx="6175248" cy="54864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6175248" cy="548640"/>
            </a:xfrm>
            <a:custGeom>
              <a:avLst/>
              <a:gdLst/>
              <a:ahLst/>
              <a:cxnLst/>
              <a:rect r="r" b="b" t="t" l="l"/>
              <a:pathLst>
                <a:path h="548640" w="6175248">
                  <a:moveTo>
                    <a:pt x="0" y="0"/>
                  </a:moveTo>
                  <a:lnTo>
                    <a:pt x="6175248" y="0"/>
                  </a:lnTo>
                  <a:lnTo>
                    <a:pt x="6175248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314" r="0" b="-169314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9525"/>
              <a:ext cx="6175248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Top products</a:t>
              </a:r>
            </a:p>
          </p:txBody>
        </p:sp>
      </p:grpSp>
      <p:sp>
        <p:nvSpPr>
          <p:cNvPr name="TextBox 94" id="94"/>
          <p:cNvSpPr txBox="true"/>
          <p:nvPr/>
        </p:nvSpPr>
        <p:spPr>
          <a:xfrm rot="0">
            <a:off x="1165860" y="7827645"/>
            <a:ext cx="4631436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2A2E30"/>
                </a:solidFill>
                <a:latin typeface="Radley"/>
                <a:ea typeface="Radley"/>
                <a:cs typeface="Radley"/>
                <a:sym typeface="Radley"/>
              </a:rPr>
              <a:t>Revenue and profit ranking</a:t>
            </a:r>
          </a:p>
        </p:txBody>
      </p:sp>
      <p:grpSp>
        <p:nvGrpSpPr>
          <p:cNvPr name="Group 95" id="95"/>
          <p:cNvGrpSpPr/>
          <p:nvPr/>
        </p:nvGrpSpPr>
        <p:grpSpPr>
          <a:xfrm rot="0">
            <a:off x="6475952" y="7125176"/>
            <a:ext cx="5331524" cy="1797367"/>
            <a:chOff x="0" y="0"/>
            <a:chExt cx="7108698" cy="239649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7108698" cy="2396490"/>
            </a:xfrm>
            <a:custGeom>
              <a:avLst/>
              <a:gdLst/>
              <a:ahLst/>
              <a:cxnLst/>
              <a:rect r="r" b="b" t="t" l="l"/>
              <a:pathLst>
                <a:path h="2396490" w="7108698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6961251" y="0"/>
                  </a:lnTo>
                  <a:cubicBezTo>
                    <a:pt x="7042658" y="0"/>
                    <a:pt x="7108698" y="66040"/>
                    <a:pt x="7108698" y="147447"/>
                  </a:cubicBezTo>
                  <a:lnTo>
                    <a:pt x="7108698" y="2249043"/>
                  </a:lnTo>
                  <a:cubicBezTo>
                    <a:pt x="7108698" y="2330450"/>
                    <a:pt x="7042658" y="2396490"/>
                    <a:pt x="6961251" y="2396490"/>
                  </a:cubicBezTo>
                  <a:lnTo>
                    <a:pt x="147447" y="2396490"/>
                  </a:lnTo>
                  <a:cubicBezTo>
                    <a:pt x="66040" y="2396490"/>
                    <a:pt x="0" y="2330450"/>
                    <a:pt x="0" y="2249043"/>
                  </a:cubicBezTo>
                  <a:close/>
                </a:path>
              </a:pathLst>
            </a:custGeom>
            <a:solidFill>
              <a:srgbClr val="D4EDF4"/>
            </a:solidFill>
            <a:ln w="14288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97" id="97"/>
          <p:cNvGrpSpPr/>
          <p:nvPr/>
        </p:nvGrpSpPr>
        <p:grpSpPr>
          <a:xfrm rot="0">
            <a:off x="6825996" y="7338060"/>
            <a:ext cx="4631436" cy="411480"/>
            <a:chOff x="0" y="0"/>
            <a:chExt cx="6175248" cy="54864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6175248" cy="548640"/>
            </a:xfrm>
            <a:custGeom>
              <a:avLst/>
              <a:gdLst/>
              <a:ahLst/>
              <a:cxnLst/>
              <a:rect r="r" b="b" t="t" l="l"/>
              <a:pathLst>
                <a:path h="548640" w="6175248">
                  <a:moveTo>
                    <a:pt x="0" y="0"/>
                  </a:moveTo>
                  <a:lnTo>
                    <a:pt x="6175248" y="0"/>
                  </a:lnTo>
                  <a:lnTo>
                    <a:pt x="6175248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314" r="0" b="-169314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9525"/>
              <a:ext cx="6175248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Top customers</a:t>
              </a:r>
            </a:p>
          </p:txBody>
        </p:sp>
      </p:grpSp>
      <p:sp>
        <p:nvSpPr>
          <p:cNvPr name="TextBox 100" id="100"/>
          <p:cNvSpPr txBox="true"/>
          <p:nvPr/>
        </p:nvSpPr>
        <p:spPr>
          <a:xfrm rot="0">
            <a:off x="6825996" y="7827645"/>
            <a:ext cx="4631436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2A2E30"/>
                </a:solidFill>
                <a:latin typeface="Radley"/>
                <a:ea typeface="Radley"/>
                <a:cs typeface="Radley"/>
                <a:sym typeface="Radley"/>
              </a:rPr>
              <a:t>Contribution to revenue</a:t>
            </a:r>
          </a:p>
        </p:txBody>
      </p:sp>
      <p:grpSp>
        <p:nvGrpSpPr>
          <p:cNvPr name="Group 101" id="101"/>
          <p:cNvGrpSpPr/>
          <p:nvPr/>
        </p:nvGrpSpPr>
        <p:grpSpPr>
          <a:xfrm rot="0">
            <a:off x="12136088" y="7125176"/>
            <a:ext cx="5331524" cy="1797367"/>
            <a:chOff x="0" y="0"/>
            <a:chExt cx="7108698" cy="239649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7108698" cy="2396490"/>
            </a:xfrm>
            <a:custGeom>
              <a:avLst/>
              <a:gdLst/>
              <a:ahLst/>
              <a:cxnLst/>
              <a:rect r="r" b="b" t="t" l="l"/>
              <a:pathLst>
                <a:path h="2396490" w="7108698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6961251" y="0"/>
                  </a:lnTo>
                  <a:cubicBezTo>
                    <a:pt x="7042658" y="0"/>
                    <a:pt x="7108698" y="66040"/>
                    <a:pt x="7108698" y="147447"/>
                  </a:cubicBezTo>
                  <a:lnTo>
                    <a:pt x="7108698" y="2249043"/>
                  </a:lnTo>
                  <a:cubicBezTo>
                    <a:pt x="7108698" y="2330450"/>
                    <a:pt x="7042658" y="2396490"/>
                    <a:pt x="6961251" y="2396490"/>
                  </a:cubicBezTo>
                  <a:lnTo>
                    <a:pt x="147447" y="2396490"/>
                  </a:lnTo>
                  <a:cubicBezTo>
                    <a:pt x="66040" y="2396490"/>
                    <a:pt x="0" y="2330450"/>
                    <a:pt x="0" y="2249043"/>
                  </a:cubicBezTo>
                  <a:close/>
                </a:path>
              </a:pathLst>
            </a:custGeom>
            <a:solidFill>
              <a:srgbClr val="D4EDF4"/>
            </a:solidFill>
            <a:ln w="14288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103" id="103"/>
          <p:cNvGrpSpPr/>
          <p:nvPr/>
        </p:nvGrpSpPr>
        <p:grpSpPr>
          <a:xfrm rot="0">
            <a:off x="12486132" y="7338060"/>
            <a:ext cx="4631436" cy="411480"/>
            <a:chOff x="0" y="0"/>
            <a:chExt cx="6175248" cy="54864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6175248" cy="548640"/>
            </a:xfrm>
            <a:custGeom>
              <a:avLst/>
              <a:gdLst/>
              <a:ahLst/>
              <a:cxnLst/>
              <a:rect r="r" b="b" t="t" l="l"/>
              <a:pathLst>
                <a:path h="548640" w="6175248">
                  <a:moveTo>
                    <a:pt x="0" y="0"/>
                  </a:moveTo>
                  <a:lnTo>
                    <a:pt x="6175248" y="0"/>
                  </a:lnTo>
                  <a:lnTo>
                    <a:pt x="6175248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314" r="0" b="-169314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9525"/>
              <a:ext cx="6175248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Actual vs Budget</a:t>
              </a:r>
            </a:p>
          </p:txBody>
        </p:sp>
      </p:grpSp>
      <p:sp>
        <p:nvSpPr>
          <p:cNvPr name="TextBox 106" id="106"/>
          <p:cNvSpPr txBox="true"/>
          <p:nvPr/>
        </p:nvSpPr>
        <p:spPr>
          <a:xfrm rot="0">
            <a:off x="12486132" y="7827645"/>
            <a:ext cx="4631436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2A2E30"/>
                </a:solidFill>
                <a:latin typeface="Radley"/>
                <a:ea typeface="Radley"/>
                <a:cs typeface="Radley"/>
                <a:sym typeface="Radley"/>
              </a:rPr>
              <a:t>Achievement and variance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45C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390650"/>
            <a:chOff x="0" y="0"/>
            <a:chExt cx="24408790" cy="1854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1854200"/>
            </a:xfrm>
            <a:custGeom>
              <a:avLst/>
              <a:gdLst/>
              <a:ahLst/>
              <a:cxnLst/>
              <a:rect r="r" b="b" t="t" l="l"/>
              <a:pathLst>
                <a:path h="18542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854200"/>
                  </a:lnTo>
                  <a:lnTo>
                    <a:pt x="0" y="1854200"/>
                  </a:lnTo>
                  <a:close/>
                </a:path>
              </a:pathLst>
            </a:custGeom>
            <a:solidFill>
              <a:srgbClr val="D4EDF4"/>
            </a:solidFill>
            <a:ln w="19050" cap="sq">
              <a:solidFill>
                <a:srgbClr val="162746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0"/>
            <a:ext cx="14401800" cy="1371600"/>
            <a:chOff x="0" y="0"/>
            <a:chExt cx="19202400" cy="1828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2024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592" r="0" b="-15459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9202400" cy="1828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spc="-84">
                  <a:solidFill>
                    <a:srgbClr val="2A2E30"/>
                  </a:solidFill>
                  <a:latin typeface="Arsenal"/>
                  <a:ea typeface="Arsenal"/>
                  <a:cs typeface="Arsenal"/>
                  <a:sym typeface="Arsenal"/>
                </a:rPr>
                <a:t>7. Sales Trend &amp; Product Analysis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088868" y="0"/>
            <a:ext cx="1371600" cy="1371600"/>
            <a:chOff x="0" y="0"/>
            <a:chExt cx="1828800" cy="1828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1828800" cy="1828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520"/>
                </a:lnSpc>
              </a:pPr>
              <a:r>
                <a:rPr lang="en-US" sz="210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8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1508760"/>
            <a:ext cx="16637508" cy="480060"/>
            <a:chOff x="0" y="0"/>
            <a:chExt cx="22183344" cy="6400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183344" cy="640080"/>
            </a:xfrm>
            <a:custGeom>
              <a:avLst/>
              <a:gdLst/>
              <a:ahLst/>
              <a:cxnLst/>
              <a:rect r="r" b="b" t="t" l="l"/>
              <a:pathLst>
                <a:path h="640080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5295" r="0" b="-62529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22183344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Radley"/>
                  <a:ea typeface="Radley"/>
                  <a:cs typeface="Radley"/>
                  <a:sym typeface="Radley"/>
                </a:rPr>
                <a:t>Phases 6 and 7 – understanding when and what drives sales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22960" y="9642348"/>
            <a:ext cx="10972800" cy="411480"/>
            <a:chOff x="0" y="0"/>
            <a:chExt cx="14630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4630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FFFFFF"/>
                  </a:solidFill>
                  <a:latin typeface="Radley"/>
                  <a:ea typeface="Radley"/>
                  <a:cs typeface="Radley"/>
                  <a:sym typeface="Radley"/>
                </a:rPr>
                <a:t>Power BI Sales Intelligence Dashboard • Presentation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13435" y="2253615"/>
            <a:ext cx="3859530" cy="567690"/>
            <a:chOff x="0" y="0"/>
            <a:chExt cx="5146040" cy="7569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146040" cy="756920"/>
            </a:xfrm>
            <a:custGeom>
              <a:avLst/>
              <a:gdLst/>
              <a:ahLst/>
              <a:cxnLst/>
              <a:rect r="r" b="b" t="t" l="l"/>
              <a:pathLst>
                <a:path h="756920" w="5146040">
                  <a:moveTo>
                    <a:pt x="0" y="378460"/>
                  </a:moveTo>
                  <a:cubicBezTo>
                    <a:pt x="0" y="169418"/>
                    <a:pt x="169418" y="0"/>
                    <a:pt x="378460" y="0"/>
                  </a:cubicBezTo>
                  <a:lnTo>
                    <a:pt x="4767580" y="0"/>
                  </a:lnTo>
                  <a:cubicBezTo>
                    <a:pt x="4976622" y="0"/>
                    <a:pt x="5146040" y="169418"/>
                    <a:pt x="5146040" y="378460"/>
                  </a:cubicBezTo>
                  <a:cubicBezTo>
                    <a:pt x="5146040" y="587502"/>
                    <a:pt x="4976622" y="756920"/>
                    <a:pt x="4767580" y="756920"/>
                  </a:cubicBezTo>
                  <a:lnTo>
                    <a:pt x="378460" y="756920"/>
                  </a:lnTo>
                  <a:cubicBezTo>
                    <a:pt x="169418" y="756920"/>
                    <a:pt x="0" y="587502"/>
                    <a:pt x="0" y="378460"/>
                  </a:cubicBezTo>
                  <a:close/>
                </a:path>
              </a:pathLst>
            </a:custGeom>
            <a:solidFill>
              <a:srgbClr val="FF9E7A"/>
            </a:solidFill>
            <a:ln w="19050" cap="sq">
              <a:solidFill>
                <a:srgbClr val="2A69AA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822960" y="2263140"/>
            <a:ext cx="3840480" cy="548640"/>
            <a:chOff x="0" y="0"/>
            <a:chExt cx="5120640" cy="731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120640" cy="731520"/>
            </a:xfrm>
            <a:custGeom>
              <a:avLst/>
              <a:gdLst/>
              <a:ahLst/>
              <a:cxnLst/>
              <a:rect r="r" b="b" t="t" l="l"/>
              <a:pathLst>
                <a:path h="7315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512064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SALES TREND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822960" y="3164205"/>
            <a:ext cx="8044434" cy="2886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Radley"/>
                <a:ea typeface="Radley"/>
                <a:cs typeface="Radley"/>
                <a:sym typeface="Radley"/>
              </a:rPr>
              <a:t>Daily, monthly, quarterly and yearly sales can be compared.</a:t>
            </a:r>
          </a:p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Radley"/>
                <a:ea typeface="Radley"/>
                <a:cs typeface="Radley"/>
                <a:sym typeface="Radley"/>
              </a:rPr>
              <a:t>YoY measures support growth analysis and current-vs-previous-year comparisons.</a:t>
            </a:r>
          </a:p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Radley"/>
                <a:ea typeface="Radley"/>
                <a:cs typeface="Radley"/>
                <a:sym typeface="Radley"/>
              </a:rPr>
              <a:t>Trend visuals help identify seasonal patterns, spikes and drops.</a:t>
            </a:r>
          </a:p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Radley"/>
                <a:ea typeface="Radley"/>
                <a:cs typeface="Radley"/>
                <a:sym typeface="Radley"/>
              </a:rPr>
              <a:t>Product analysis adds sales, quantity, cost, profit, margin and contribution views.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815816" y="7193756"/>
            <a:ext cx="8058721" cy="1797367"/>
            <a:chOff x="0" y="0"/>
            <a:chExt cx="10744962" cy="239649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744962" cy="2396490"/>
            </a:xfrm>
            <a:custGeom>
              <a:avLst/>
              <a:gdLst/>
              <a:ahLst/>
              <a:cxnLst/>
              <a:rect r="r" b="b" t="t" l="l"/>
              <a:pathLst>
                <a:path h="2396490" w="10744962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10597515" y="0"/>
                  </a:lnTo>
                  <a:cubicBezTo>
                    <a:pt x="10678922" y="0"/>
                    <a:pt x="10744962" y="66040"/>
                    <a:pt x="10744962" y="147447"/>
                  </a:cubicBezTo>
                  <a:lnTo>
                    <a:pt x="10744962" y="2249043"/>
                  </a:lnTo>
                  <a:cubicBezTo>
                    <a:pt x="10744962" y="2330450"/>
                    <a:pt x="10678922" y="2396490"/>
                    <a:pt x="10597515" y="2396490"/>
                  </a:cubicBezTo>
                  <a:lnTo>
                    <a:pt x="147447" y="2396490"/>
                  </a:lnTo>
                  <a:cubicBezTo>
                    <a:pt x="66040" y="2396490"/>
                    <a:pt x="0" y="2330450"/>
                    <a:pt x="0" y="2249043"/>
                  </a:cubicBezTo>
                  <a:close/>
                </a:path>
              </a:pathLst>
            </a:custGeom>
            <a:solidFill>
              <a:srgbClr val="D4EDF4"/>
            </a:solidFill>
            <a:ln w="14288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165860" y="7406640"/>
            <a:ext cx="7358634" cy="411480"/>
            <a:chOff x="0" y="0"/>
            <a:chExt cx="9811512" cy="5486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811512" cy="548640"/>
            </a:xfrm>
            <a:custGeom>
              <a:avLst/>
              <a:gdLst/>
              <a:ahLst/>
              <a:cxnLst/>
              <a:rect r="r" b="b" t="t" l="l"/>
              <a:pathLst>
                <a:path h="548640" w="9811512">
                  <a:moveTo>
                    <a:pt x="0" y="0"/>
                  </a:moveTo>
                  <a:lnTo>
                    <a:pt x="9811512" y="0"/>
                  </a:lnTo>
                  <a:lnTo>
                    <a:pt x="9811512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8457" r="0" b="-298457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9811512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Presentation point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165860" y="7896225"/>
            <a:ext cx="7358634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2A2E30"/>
                </a:solidFill>
                <a:latin typeface="Radley"/>
                <a:ea typeface="Radley"/>
                <a:cs typeface="Radley"/>
                <a:sym typeface="Radley"/>
              </a:rPr>
              <a:t>Show one trend and one product chart from the live dashboard.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406509" y="2253615"/>
            <a:ext cx="3859530" cy="567690"/>
            <a:chOff x="0" y="0"/>
            <a:chExt cx="5146040" cy="7569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146040" cy="756920"/>
            </a:xfrm>
            <a:custGeom>
              <a:avLst/>
              <a:gdLst/>
              <a:ahLst/>
              <a:cxnLst/>
              <a:rect r="r" b="b" t="t" l="l"/>
              <a:pathLst>
                <a:path h="756920" w="5146040">
                  <a:moveTo>
                    <a:pt x="0" y="378460"/>
                  </a:moveTo>
                  <a:cubicBezTo>
                    <a:pt x="0" y="169418"/>
                    <a:pt x="169418" y="0"/>
                    <a:pt x="378460" y="0"/>
                  </a:cubicBezTo>
                  <a:lnTo>
                    <a:pt x="4767580" y="0"/>
                  </a:lnTo>
                  <a:cubicBezTo>
                    <a:pt x="4976622" y="0"/>
                    <a:pt x="5146040" y="169418"/>
                    <a:pt x="5146040" y="378460"/>
                  </a:cubicBezTo>
                  <a:cubicBezTo>
                    <a:pt x="5146040" y="587502"/>
                    <a:pt x="4976622" y="756920"/>
                    <a:pt x="4767580" y="756920"/>
                  </a:cubicBezTo>
                  <a:lnTo>
                    <a:pt x="378460" y="756920"/>
                  </a:lnTo>
                  <a:cubicBezTo>
                    <a:pt x="169418" y="756920"/>
                    <a:pt x="0" y="587502"/>
                    <a:pt x="0" y="378460"/>
                  </a:cubicBezTo>
                  <a:close/>
                </a:path>
              </a:pathLst>
            </a:custGeom>
            <a:solidFill>
              <a:srgbClr val="FF9E7A"/>
            </a:solidFill>
            <a:ln w="19050" cap="sq">
              <a:solidFill>
                <a:srgbClr val="1F8985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9416034" y="2263140"/>
            <a:ext cx="3840480" cy="548640"/>
            <a:chOff x="0" y="0"/>
            <a:chExt cx="5120640" cy="7315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120640" cy="731520"/>
            </a:xfrm>
            <a:custGeom>
              <a:avLst/>
              <a:gdLst/>
              <a:ahLst/>
              <a:cxnLst/>
              <a:rect r="r" b="b" t="t" l="l"/>
              <a:pathLst>
                <a:path h="7315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512064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PRODUCT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9416034" y="3164205"/>
            <a:ext cx="8044434" cy="2524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Radley"/>
                <a:ea typeface="Radley"/>
                <a:cs typeface="Radley"/>
                <a:sym typeface="Radley"/>
              </a:rPr>
              <a:t>Top and bottom products can be ranked using the report.</a:t>
            </a:r>
          </a:p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Radley"/>
                <a:ea typeface="Radley"/>
                <a:cs typeface="Radley"/>
                <a:sym typeface="Radley"/>
              </a:rPr>
              <a:t>Sales-vs-profit analysis highlights products with different profitability profiles.</a:t>
            </a:r>
          </a:p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Radley"/>
                <a:ea typeface="Radley"/>
                <a:cs typeface="Radley"/>
                <a:sym typeface="Radley"/>
              </a:rPr>
              <a:t>Product contribution shows how individual products affect total sales.</a:t>
            </a:r>
          </a:p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Radley"/>
                <a:ea typeface="Radley"/>
                <a:cs typeface="Radley"/>
                <a:sym typeface="Radley"/>
              </a:rPr>
              <a:t>Pricing or cost optimization can be investigated for high-sales / low-margin products.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408890" y="7193756"/>
            <a:ext cx="8058721" cy="1797367"/>
            <a:chOff x="0" y="0"/>
            <a:chExt cx="10744962" cy="239649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744962" cy="2396490"/>
            </a:xfrm>
            <a:custGeom>
              <a:avLst/>
              <a:gdLst/>
              <a:ahLst/>
              <a:cxnLst/>
              <a:rect r="r" b="b" t="t" l="l"/>
              <a:pathLst>
                <a:path h="2396490" w="10744962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10597515" y="0"/>
                  </a:lnTo>
                  <a:cubicBezTo>
                    <a:pt x="10678922" y="0"/>
                    <a:pt x="10744962" y="66040"/>
                    <a:pt x="10744962" y="147447"/>
                  </a:cubicBezTo>
                  <a:lnTo>
                    <a:pt x="10744962" y="2249043"/>
                  </a:lnTo>
                  <a:cubicBezTo>
                    <a:pt x="10744962" y="2330450"/>
                    <a:pt x="10678922" y="2396490"/>
                    <a:pt x="10597515" y="2396490"/>
                  </a:cubicBezTo>
                  <a:lnTo>
                    <a:pt x="147447" y="2396490"/>
                  </a:lnTo>
                  <a:cubicBezTo>
                    <a:pt x="66040" y="2396490"/>
                    <a:pt x="0" y="2330450"/>
                    <a:pt x="0" y="2249043"/>
                  </a:cubicBezTo>
                  <a:close/>
                </a:path>
              </a:pathLst>
            </a:custGeom>
            <a:solidFill>
              <a:srgbClr val="D4EDF4"/>
            </a:solidFill>
            <a:ln w="14288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9758934" y="7406640"/>
            <a:ext cx="7358634" cy="411480"/>
            <a:chOff x="0" y="0"/>
            <a:chExt cx="9811512" cy="5486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811512" cy="548640"/>
            </a:xfrm>
            <a:custGeom>
              <a:avLst/>
              <a:gdLst/>
              <a:ahLst/>
              <a:cxnLst/>
              <a:rect r="r" b="b" t="t" l="l"/>
              <a:pathLst>
                <a:path h="548640" w="9811512">
                  <a:moveTo>
                    <a:pt x="0" y="0"/>
                  </a:moveTo>
                  <a:lnTo>
                    <a:pt x="9811512" y="0"/>
                  </a:lnTo>
                  <a:lnTo>
                    <a:pt x="9811512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8457" r="0" b="-298457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9811512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Presentation point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9758934" y="7896225"/>
            <a:ext cx="7358634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2A2E30"/>
                </a:solidFill>
                <a:latin typeface="Radley"/>
                <a:ea typeface="Radley"/>
                <a:cs typeface="Radley"/>
                <a:sym typeface="Radley"/>
              </a:rPr>
              <a:t>Use slicers to demonstrate how product results change by year/location.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45C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390650"/>
            <a:chOff x="0" y="0"/>
            <a:chExt cx="24408790" cy="1854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1854200"/>
            </a:xfrm>
            <a:custGeom>
              <a:avLst/>
              <a:gdLst/>
              <a:ahLst/>
              <a:cxnLst/>
              <a:rect r="r" b="b" t="t" l="l"/>
              <a:pathLst>
                <a:path h="18542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854200"/>
                  </a:lnTo>
                  <a:lnTo>
                    <a:pt x="0" y="1854200"/>
                  </a:lnTo>
                  <a:close/>
                </a:path>
              </a:pathLst>
            </a:custGeom>
            <a:solidFill>
              <a:srgbClr val="D4EDF4"/>
            </a:solidFill>
            <a:ln w="19050" cap="sq">
              <a:solidFill>
                <a:srgbClr val="162746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0"/>
            <a:ext cx="14401800" cy="1371600"/>
            <a:chOff x="0" y="0"/>
            <a:chExt cx="19202400" cy="1828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2024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592" r="0" b="-15459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9202400" cy="1828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spc="-84">
                  <a:solidFill>
                    <a:srgbClr val="2A2E30"/>
                  </a:solidFill>
                  <a:latin typeface="Arsenal"/>
                  <a:ea typeface="Arsenal"/>
                  <a:cs typeface="Arsenal"/>
                  <a:sym typeface="Arsenal"/>
                </a:rPr>
                <a:t>8. Customer &amp; Salesperson Analysis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088868" y="0"/>
            <a:ext cx="1371600" cy="1371600"/>
            <a:chOff x="0" y="0"/>
            <a:chExt cx="1828800" cy="1828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1828800" cy="1828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520"/>
                </a:lnSpc>
              </a:pPr>
              <a:r>
                <a:rPr lang="en-US" sz="210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9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1508760"/>
            <a:ext cx="16637508" cy="480060"/>
            <a:chOff x="0" y="0"/>
            <a:chExt cx="22183344" cy="6400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183344" cy="640080"/>
            </a:xfrm>
            <a:custGeom>
              <a:avLst/>
              <a:gdLst/>
              <a:ahLst/>
              <a:cxnLst/>
              <a:rect r="r" b="b" t="t" l="l"/>
              <a:pathLst>
                <a:path h="640080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5295" r="0" b="-62529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22183344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Radley"/>
                  <a:ea typeface="Radley"/>
                  <a:cs typeface="Radley"/>
                  <a:sym typeface="Radley"/>
                </a:rPr>
                <a:t>Phases 8 and 9 – understanding contribution and sales-team performance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22960" y="9642348"/>
            <a:ext cx="10972800" cy="411480"/>
            <a:chOff x="0" y="0"/>
            <a:chExt cx="14630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4630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FFFFFF"/>
                  </a:solidFill>
                  <a:latin typeface="Radley"/>
                  <a:ea typeface="Radley"/>
                  <a:cs typeface="Radley"/>
                  <a:sym typeface="Radley"/>
                </a:rPr>
                <a:t>Power BI Sales Intelligence Dashboard • Presentation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13435" y="2253615"/>
            <a:ext cx="3859530" cy="567690"/>
            <a:chOff x="0" y="0"/>
            <a:chExt cx="5146040" cy="7569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146040" cy="756920"/>
            </a:xfrm>
            <a:custGeom>
              <a:avLst/>
              <a:gdLst/>
              <a:ahLst/>
              <a:cxnLst/>
              <a:rect r="r" b="b" t="t" l="l"/>
              <a:pathLst>
                <a:path h="756920" w="5146040">
                  <a:moveTo>
                    <a:pt x="0" y="378460"/>
                  </a:moveTo>
                  <a:cubicBezTo>
                    <a:pt x="0" y="169418"/>
                    <a:pt x="169418" y="0"/>
                    <a:pt x="378460" y="0"/>
                  </a:cubicBezTo>
                  <a:lnTo>
                    <a:pt x="4767580" y="0"/>
                  </a:lnTo>
                  <a:cubicBezTo>
                    <a:pt x="4976622" y="0"/>
                    <a:pt x="5146040" y="169418"/>
                    <a:pt x="5146040" y="378460"/>
                  </a:cubicBezTo>
                  <a:cubicBezTo>
                    <a:pt x="5146040" y="587502"/>
                    <a:pt x="4976622" y="756920"/>
                    <a:pt x="4767580" y="756920"/>
                  </a:cubicBezTo>
                  <a:lnTo>
                    <a:pt x="378460" y="756920"/>
                  </a:lnTo>
                  <a:cubicBezTo>
                    <a:pt x="169418" y="756920"/>
                    <a:pt x="0" y="587502"/>
                    <a:pt x="0" y="378460"/>
                  </a:cubicBezTo>
                  <a:close/>
                </a:path>
              </a:pathLst>
            </a:custGeom>
            <a:solidFill>
              <a:srgbClr val="FF9E7A"/>
            </a:solidFill>
            <a:ln w="19050" cap="sq">
              <a:solidFill>
                <a:srgbClr val="2A69AA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822960" y="2263140"/>
            <a:ext cx="3840480" cy="548640"/>
            <a:chOff x="0" y="0"/>
            <a:chExt cx="5120640" cy="731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120640" cy="731520"/>
            </a:xfrm>
            <a:custGeom>
              <a:avLst/>
              <a:gdLst/>
              <a:ahLst/>
              <a:cxnLst/>
              <a:rect r="r" b="b" t="t" l="l"/>
              <a:pathLst>
                <a:path h="7315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512064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CUSTOMER ANALYSIS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822960" y="3164205"/>
            <a:ext cx="8044434" cy="1438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Radley"/>
                <a:ea typeface="Radley"/>
                <a:cs typeface="Radley"/>
                <a:sym typeface="Radley"/>
              </a:rPr>
              <a:t>Total customers and sales by customer</a:t>
            </a:r>
          </a:p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Radley"/>
                <a:ea typeface="Radley"/>
                <a:cs typeface="Radley"/>
                <a:sym typeface="Radley"/>
              </a:rPr>
              <a:t>Orders, quantity and average order value</a:t>
            </a:r>
          </a:p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Radley"/>
                <a:ea typeface="Radley"/>
                <a:cs typeface="Radley"/>
                <a:sym typeface="Radley"/>
              </a:rPr>
              <a:t>Customer contribution %</a:t>
            </a:r>
          </a:p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Radley"/>
                <a:ea typeface="Radley"/>
                <a:cs typeface="Radley"/>
                <a:sym typeface="Radley"/>
              </a:rPr>
              <a:t>Identify high-sales / low-profit customers for review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815816" y="7193756"/>
            <a:ext cx="8058721" cy="1797367"/>
            <a:chOff x="0" y="0"/>
            <a:chExt cx="10744962" cy="239649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744962" cy="2396490"/>
            </a:xfrm>
            <a:custGeom>
              <a:avLst/>
              <a:gdLst/>
              <a:ahLst/>
              <a:cxnLst/>
              <a:rect r="r" b="b" t="t" l="l"/>
              <a:pathLst>
                <a:path h="2396490" w="10744962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10597515" y="0"/>
                  </a:lnTo>
                  <a:cubicBezTo>
                    <a:pt x="10678922" y="0"/>
                    <a:pt x="10744962" y="66040"/>
                    <a:pt x="10744962" y="147447"/>
                  </a:cubicBezTo>
                  <a:lnTo>
                    <a:pt x="10744962" y="2249043"/>
                  </a:lnTo>
                  <a:cubicBezTo>
                    <a:pt x="10744962" y="2330450"/>
                    <a:pt x="10678922" y="2396490"/>
                    <a:pt x="10597515" y="2396490"/>
                  </a:cubicBezTo>
                  <a:lnTo>
                    <a:pt x="147447" y="2396490"/>
                  </a:lnTo>
                  <a:cubicBezTo>
                    <a:pt x="66040" y="2396490"/>
                    <a:pt x="0" y="2330450"/>
                    <a:pt x="0" y="2249043"/>
                  </a:cubicBezTo>
                  <a:close/>
                </a:path>
              </a:pathLst>
            </a:custGeom>
            <a:solidFill>
              <a:srgbClr val="D4EDF4"/>
            </a:solidFill>
            <a:ln w="14288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165860" y="7406640"/>
            <a:ext cx="7358634" cy="411480"/>
            <a:chOff x="0" y="0"/>
            <a:chExt cx="9811512" cy="5486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811512" cy="548640"/>
            </a:xfrm>
            <a:custGeom>
              <a:avLst/>
              <a:gdLst/>
              <a:ahLst/>
              <a:cxnLst/>
              <a:rect r="r" b="b" t="t" l="l"/>
              <a:pathLst>
                <a:path h="548640" w="9811512">
                  <a:moveTo>
                    <a:pt x="0" y="0"/>
                  </a:moveTo>
                  <a:lnTo>
                    <a:pt x="9811512" y="0"/>
                  </a:lnTo>
                  <a:lnTo>
                    <a:pt x="9811512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8457" r="0" b="-298457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9811512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Demo action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165860" y="7896225"/>
            <a:ext cx="7358634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2A2E30"/>
                </a:solidFill>
                <a:latin typeface="Radley"/>
                <a:ea typeface="Radley"/>
                <a:cs typeface="Radley"/>
                <a:sym typeface="Radley"/>
              </a:rPr>
              <a:t>Select a customer and show cross-filtering across related visuals.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406509" y="2253615"/>
            <a:ext cx="3859530" cy="567690"/>
            <a:chOff x="0" y="0"/>
            <a:chExt cx="5146040" cy="7569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146040" cy="756920"/>
            </a:xfrm>
            <a:custGeom>
              <a:avLst/>
              <a:gdLst/>
              <a:ahLst/>
              <a:cxnLst/>
              <a:rect r="r" b="b" t="t" l="l"/>
              <a:pathLst>
                <a:path h="756920" w="5146040">
                  <a:moveTo>
                    <a:pt x="0" y="378460"/>
                  </a:moveTo>
                  <a:cubicBezTo>
                    <a:pt x="0" y="169418"/>
                    <a:pt x="169418" y="0"/>
                    <a:pt x="378460" y="0"/>
                  </a:cubicBezTo>
                  <a:lnTo>
                    <a:pt x="4767580" y="0"/>
                  </a:lnTo>
                  <a:cubicBezTo>
                    <a:pt x="4976622" y="0"/>
                    <a:pt x="5146040" y="169418"/>
                    <a:pt x="5146040" y="378460"/>
                  </a:cubicBezTo>
                  <a:cubicBezTo>
                    <a:pt x="5146040" y="587502"/>
                    <a:pt x="4976622" y="756920"/>
                    <a:pt x="4767580" y="756920"/>
                  </a:cubicBezTo>
                  <a:lnTo>
                    <a:pt x="378460" y="756920"/>
                  </a:lnTo>
                  <a:cubicBezTo>
                    <a:pt x="169418" y="756920"/>
                    <a:pt x="0" y="587502"/>
                    <a:pt x="0" y="378460"/>
                  </a:cubicBezTo>
                  <a:close/>
                </a:path>
              </a:pathLst>
            </a:custGeom>
            <a:solidFill>
              <a:srgbClr val="FF9E7A"/>
            </a:solidFill>
            <a:ln w="19050" cap="sq">
              <a:solidFill>
                <a:srgbClr val="1F8985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9416034" y="2263140"/>
            <a:ext cx="3840480" cy="548640"/>
            <a:chOff x="0" y="0"/>
            <a:chExt cx="5120640" cy="7315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120640" cy="731520"/>
            </a:xfrm>
            <a:custGeom>
              <a:avLst/>
              <a:gdLst/>
              <a:ahLst/>
              <a:cxnLst/>
              <a:rect r="r" b="b" t="t" l="l"/>
              <a:pathLst>
                <a:path h="7315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512064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SALESPERSON PERFORMANCE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9416034" y="3164205"/>
            <a:ext cx="8044434" cy="1438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Radley"/>
                <a:ea typeface="Radley"/>
                <a:cs typeface="Radley"/>
                <a:sym typeface="Radley"/>
              </a:rPr>
              <a:t>Sales, orders and quantity sold</a:t>
            </a:r>
          </a:p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Radley"/>
                <a:ea typeface="Radley"/>
                <a:cs typeface="Radley"/>
                <a:sym typeface="Radley"/>
              </a:rPr>
              <a:t>Profit and average order value</a:t>
            </a:r>
          </a:p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Radley"/>
                <a:ea typeface="Radley"/>
                <a:cs typeface="Radley"/>
                <a:sym typeface="Radley"/>
              </a:rPr>
              <a:t>Sales contribution %</a:t>
            </a:r>
          </a:p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Radley"/>
                <a:ea typeface="Radley"/>
                <a:cs typeface="Radley"/>
                <a:sym typeface="Radley"/>
              </a:rPr>
              <a:t>YoY performance and support/training opportunities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408890" y="7193756"/>
            <a:ext cx="8058721" cy="1797367"/>
            <a:chOff x="0" y="0"/>
            <a:chExt cx="10744962" cy="239649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744962" cy="2396490"/>
            </a:xfrm>
            <a:custGeom>
              <a:avLst/>
              <a:gdLst/>
              <a:ahLst/>
              <a:cxnLst/>
              <a:rect r="r" b="b" t="t" l="l"/>
              <a:pathLst>
                <a:path h="2396490" w="10744962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10597515" y="0"/>
                  </a:lnTo>
                  <a:cubicBezTo>
                    <a:pt x="10678922" y="0"/>
                    <a:pt x="10744962" y="66040"/>
                    <a:pt x="10744962" y="147447"/>
                  </a:cubicBezTo>
                  <a:lnTo>
                    <a:pt x="10744962" y="2249043"/>
                  </a:lnTo>
                  <a:cubicBezTo>
                    <a:pt x="10744962" y="2330450"/>
                    <a:pt x="10678922" y="2396490"/>
                    <a:pt x="10597515" y="2396490"/>
                  </a:cubicBezTo>
                  <a:lnTo>
                    <a:pt x="147447" y="2396490"/>
                  </a:lnTo>
                  <a:cubicBezTo>
                    <a:pt x="66040" y="2396490"/>
                    <a:pt x="0" y="2330450"/>
                    <a:pt x="0" y="2249043"/>
                  </a:cubicBezTo>
                  <a:close/>
                </a:path>
              </a:pathLst>
            </a:custGeom>
            <a:solidFill>
              <a:srgbClr val="D4EDF4"/>
            </a:solidFill>
            <a:ln w="14288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9758934" y="7406640"/>
            <a:ext cx="7358634" cy="411480"/>
            <a:chOff x="0" y="0"/>
            <a:chExt cx="9811512" cy="5486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811512" cy="548640"/>
            </a:xfrm>
            <a:custGeom>
              <a:avLst/>
              <a:gdLst/>
              <a:ahLst/>
              <a:cxnLst/>
              <a:rect r="r" b="b" t="t" l="l"/>
              <a:pathLst>
                <a:path h="548640" w="9811512">
                  <a:moveTo>
                    <a:pt x="0" y="0"/>
                  </a:moveTo>
                  <a:lnTo>
                    <a:pt x="9811512" y="0"/>
                  </a:lnTo>
                  <a:lnTo>
                    <a:pt x="9811512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8457" r="0" b="-298457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9811512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Demo action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9758934" y="7896225"/>
            <a:ext cx="7358634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2A2E30"/>
                </a:solidFill>
                <a:latin typeface="Radley"/>
                <a:ea typeface="Radley"/>
                <a:cs typeface="Radley"/>
                <a:sym typeface="Radley"/>
              </a:rPr>
              <a:t>Select a salesperson and compare sales, profit and order volume.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45C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390650"/>
            <a:chOff x="0" y="0"/>
            <a:chExt cx="24408790" cy="1854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1854200"/>
            </a:xfrm>
            <a:custGeom>
              <a:avLst/>
              <a:gdLst/>
              <a:ahLst/>
              <a:cxnLst/>
              <a:rect r="r" b="b" t="t" l="l"/>
              <a:pathLst>
                <a:path h="18542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854200"/>
                  </a:lnTo>
                  <a:lnTo>
                    <a:pt x="0" y="1854200"/>
                  </a:lnTo>
                  <a:close/>
                </a:path>
              </a:pathLst>
            </a:custGeom>
            <a:solidFill>
              <a:srgbClr val="D4EDF4"/>
            </a:solidFill>
            <a:ln w="19050" cap="sq">
              <a:solidFill>
                <a:srgbClr val="162746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0"/>
            <a:ext cx="14401800" cy="1371600"/>
            <a:chOff x="0" y="0"/>
            <a:chExt cx="19202400" cy="1828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2024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592" r="0" b="-15459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9202400" cy="1828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spc="-84">
                  <a:solidFill>
                    <a:srgbClr val="2A2E30"/>
                  </a:solidFill>
                  <a:latin typeface="Arsenal"/>
                  <a:ea typeface="Arsenal"/>
                  <a:cs typeface="Arsenal"/>
                  <a:sym typeface="Arsenal"/>
                </a:rPr>
                <a:t>9. Geographic &amp; Budget Analysis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088868" y="0"/>
            <a:ext cx="1371600" cy="1371600"/>
            <a:chOff x="0" y="0"/>
            <a:chExt cx="1828800" cy="1828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1828800" cy="1828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520"/>
                </a:lnSpc>
              </a:pPr>
              <a:r>
                <a:rPr lang="en-US" sz="210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10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1508760"/>
            <a:ext cx="16637508" cy="480060"/>
            <a:chOff x="0" y="0"/>
            <a:chExt cx="22183344" cy="6400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183344" cy="640080"/>
            </a:xfrm>
            <a:custGeom>
              <a:avLst/>
              <a:gdLst/>
              <a:ahLst/>
              <a:cxnLst/>
              <a:rect r="r" b="b" t="t" l="l"/>
              <a:pathLst>
                <a:path h="640080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5295" r="0" b="-62529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22183344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Radley"/>
                  <a:ea typeface="Radley"/>
                  <a:cs typeface="Radley"/>
                  <a:sym typeface="Radley"/>
                </a:rPr>
                <a:t>Phases 10 and 11 – where performance occurs and whether targets are met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22960" y="9642348"/>
            <a:ext cx="10972800" cy="411480"/>
            <a:chOff x="0" y="0"/>
            <a:chExt cx="14630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4630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FFFFFF"/>
                  </a:solidFill>
                  <a:latin typeface="Radley"/>
                  <a:ea typeface="Radley"/>
                  <a:cs typeface="Radley"/>
                  <a:sym typeface="Radley"/>
                </a:rPr>
                <a:t>Power BI Sales Intelligence Dashboard • Presentation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13435" y="2253615"/>
            <a:ext cx="3859530" cy="567690"/>
            <a:chOff x="0" y="0"/>
            <a:chExt cx="5146040" cy="7569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146040" cy="756920"/>
            </a:xfrm>
            <a:custGeom>
              <a:avLst/>
              <a:gdLst/>
              <a:ahLst/>
              <a:cxnLst/>
              <a:rect r="r" b="b" t="t" l="l"/>
              <a:pathLst>
                <a:path h="756920" w="5146040">
                  <a:moveTo>
                    <a:pt x="0" y="378460"/>
                  </a:moveTo>
                  <a:cubicBezTo>
                    <a:pt x="0" y="169418"/>
                    <a:pt x="169418" y="0"/>
                    <a:pt x="378460" y="0"/>
                  </a:cubicBezTo>
                  <a:lnTo>
                    <a:pt x="4767580" y="0"/>
                  </a:lnTo>
                  <a:cubicBezTo>
                    <a:pt x="4976622" y="0"/>
                    <a:pt x="5146040" y="169418"/>
                    <a:pt x="5146040" y="378460"/>
                  </a:cubicBezTo>
                  <a:cubicBezTo>
                    <a:pt x="5146040" y="587502"/>
                    <a:pt x="4976622" y="756920"/>
                    <a:pt x="4767580" y="756920"/>
                  </a:cubicBezTo>
                  <a:lnTo>
                    <a:pt x="378460" y="756920"/>
                  </a:lnTo>
                  <a:cubicBezTo>
                    <a:pt x="169418" y="756920"/>
                    <a:pt x="0" y="587502"/>
                    <a:pt x="0" y="378460"/>
                  </a:cubicBezTo>
                  <a:close/>
                </a:path>
              </a:pathLst>
            </a:custGeom>
            <a:solidFill>
              <a:srgbClr val="FF9E7A"/>
            </a:solidFill>
            <a:ln w="19050" cap="sq">
              <a:solidFill>
                <a:srgbClr val="E69138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822960" y="2263140"/>
            <a:ext cx="3840480" cy="548640"/>
            <a:chOff x="0" y="0"/>
            <a:chExt cx="5120640" cy="731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120640" cy="731520"/>
            </a:xfrm>
            <a:custGeom>
              <a:avLst/>
              <a:gdLst/>
              <a:ahLst/>
              <a:cxnLst/>
              <a:rect r="r" b="b" t="t" l="l"/>
              <a:pathLst>
                <a:path h="7315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512064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GEOGRAPHIC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822960" y="3164205"/>
            <a:ext cx="8044434" cy="2886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Radley"/>
                <a:ea typeface="Radley"/>
                <a:cs typeface="Radley"/>
                <a:sym typeface="Radley"/>
              </a:rPr>
              <a:t>Analyze sales by city, state, location and geographic region.</a:t>
            </a:r>
          </a:p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Radley"/>
                <a:ea typeface="Radley"/>
                <a:cs typeface="Radley"/>
                <a:sym typeface="Radley"/>
              </a:rPr>
              <a:t>Compare sales with population and household information where available.</a:t>
            </a:r>
          </a:p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Radley"/>
                <a:ea typeface="Radley"/>
                <a:cs typeface="Radley"/>
                <a:sym typeface="Radley"/>
              </a:rPr>
              <a:t>Maps and ranking visuals help locate strong and weak markets.</a:t>
            </a:r>
          </a:p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Radley"/>
                <a:ea typeface="Radley"/>
                <a:cs typeface="Radley"/>
                <a:sym typeface="Radley"/>
              </a:rPr>
              <a:t>Low-sales locations with strong population indicators can be investigated as growth opportunities.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815816" y="7193756"/>
            <a:ext cx="8058721" cy="1797367"/>
            <a:chOff x="0" y="0"/>
            <a:chExt cx="10744962" cy="239649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744962" cy="2396490"/>
            </a:xfrm>
            <a:custGeom>
              <a:avLst/>
              <a:gdLst/>
              <a:ahLst/>
              <a:cxnLst/>
              <a:rect r="r" b="b" t="t" l="l"/>
              <a:pathLst>
                <a:path h="2396490" w="10744962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10597515" y="0"/>
                  </a:lnTo>
                  <a:cubicBezTo>
                    <a:pt x="10678922" y="0"/>
                    <a:pt x="10744962" y="66040"/>
                    <a:pt x="10744962" y="147447"/>
                  </a:cubicBezTo>
                  <a:lnTo>
                    <a:pt x="10744962" y="2249043"/>
                  </a:lnTo>
                  <a:cubicBezTo>
                    <a:pt x="10744962" y="2330450"/>
                    <a:pt x="10678922" y="2396490"/>
                    <a:pt x="10597515" y="2396490"/>
                  </a:cubicBezTo>
                  <a:lnTo>
                    <a:pt x="147447" y="2396490"/>
                  </a:lnTo>
                  <a:cubicBezTo>
                    <a:pt x="66040" y="2396490"/>
                    <a:pt x="0" y="2330450"/>
                    <a:pt x="0" y="2249043"/>
                  </a:cubicBezTo>
                  <a:close/>
                </a:path>
              </a:pathLst>
            </a:custGeom>
            <a:solidFill>
              <a:srgbClr val="D4EDF4"/>
            </a:solidFill>
            <a:ln w="14288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165860" y="7406640"/>
            <a:ext cx="7358634" cy="411480"/>
            <a:chOff x="0" y="0"/>
            <a:chExt cx="9811512" cy="5486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811512" cy="548640"/>
            </a:xfrm>
            <a:custGeom>
              <a:avLst/>
              <a:gdLst/>
              <a:ahLst/>
              <a:cxnLst/>
              <a:rect r="r" b="b" t="t" l="l"/>
              <a:pathLst>
                <a:path h="548640" w="9811512">
                  <a:moveTo>
                    <a:pt x="0" y="0"/>
                  </a:moveTo>
                  <a:lnTo>
                    <a:pt x="9811512" y="0"/>
                  </a:lnTo>
                  <a:lnTo>
                    <a:pt x="9811512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8457" r="0" b="-298457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9811512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Visuals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165860" y="7896225"/>
            <a:ext cx="7358634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2A2E30"/>
                </a:solidFill>
                <a:latin typeface="Radley"/>
                <a:ea typeface="Radley"/>
                <a:cs typeface="Radley"/>
                <a:sym typeface="Radley"/>
              </a:rPr>
              <a:t>Map • state sales • location ranking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406509" y="2253615"/>
            <a:ext cx="3859530" cy="567690"/>
            <a:chOff x="0" y="0"/>
            <a:chExt cx="5146040" cy="7569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146040" cy="756920"/>
            </a:xfrm>
            <a:custGeom>
              <a:avLst/>
              <a:gdLst/>
              <a:ahLst/>
              <a:cxnLst/>
              <a:rect r="r" b="b" t="t" l="l"/>
              <a:pathLst>
                <a:path h="756920" w="5146040">
                  <a:moveTo>
                    <a:pt x="0" y="378460"/>
                  </a:moveTo>
                  <a:cubicBezTo>
                    <a:pt x="0" y="169418"/>
                    <a:pt x="169418" y="0"/>
                    <a:pt x="378460" y="0"/>
                  </a:cubicBezTo>
                  <a:lnTo>
                    <a:pt x="4767580" y="0"/>
                  </a:lnTo>
                  <a:cubicBezTo>
                    <a:pt x="4976622" y="0"/>
                    <a:pt x="5146040" y="169418"/>
                    <a:pt x="5146040" y="378460"/>
                  </a:cubicBezTo>
                  <a:cubicBezTo>
                    <a:pt x="5146040" y="587502"/>
                    <a:pt x="4976622" y="756920"/>
                    <a:pt x="4767580" y="756920"/>
                  </a:cubicBezTo>
                  <a:lnTo>
                    <a:pt x="378460" y="756920"/>
                  </a:lnTo>
                  <a:cubicBezTo>
                    <a:pt x="169418" y="756920"/>
                    <a:pt x="0" y="587502"/>
                    <a:pt x="0" y="378460"/>
                  </a:cubicBezTo>
                  <a:close/>
                </a:path>
              </a:pathLst>
            </a:custGeom>
            <a:solidFill>
              <a:srgbClr val="FF9E7A"/>
            </a:solidFill>
            <a:ln w="19050" cap="sq">
              <a:solidFill>
                <a:srgbClr val="2E8B57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9416034" y="2263140"/>
            <a:ext cx="3840480" cy="548640"/>
            <a:chOff x="0" y="0"/>
            <a:chExt cx="5120640" cy="7315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120640" cy="731520"/>
            </a:xfrm>
            <a:custGeom>
              <a:avLst/>
              <a:gdLst/>
              <a:ahLst/>
              <a:cxnLst/>
              <a:rect r="r" b="b" t="t" l="l"/>
              <a:pathLst>
                <a:path h="7315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512064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BUDGET VS ACTUAL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9416034" y="3164205"/>
            <a:ext cx="8044434" cy="2524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Radley"/>
                <a:ea typeface="Radley"/>
                <a:cs typeface="Radley"/>
                <a:sym typeface="Radley"/>
              </a:rPr>
              <a:t>Compare Budget, Actual Sales, Variance and Budget Achievement %.</a:t>
            </a:r>
          </a:p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Radley"/>
                <a:ea typeface="Radley"/>
                <a:cs typeface="Radley"/>
                <a:sym typeface="Radley"/>
              </a:rPr>
              <a:t>Review performance by location and month.</a:t>
            </a:r>
          </a:p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Radley"/>
                <a:ea typeface="Radley"/>
                <a:cs typeface="Radley"/>
                <a:sym typeface="Radley"/>
              </a:rPr>
              <a:t>Identify locations exceeding budget and locations missing targets.</a:t>
            </a:r>
          </a:p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Radley"/>
                <a:ea typeface="Radley"/>
                <a:cs typeface="Radley"/>
                <a:sym typeface="Radley"/>
              </a:rPr>
              <a:t>Use variance analysis to support management investigation and planning.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408890" y="7193756"/>
            <a:ext cx="8058721" cy="1797367"/>
            <a:chOff x="0" y="0"/>
            <a:chExt cx="10744962" cy="239649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744962" cy="2396490"/>
            </a:xfrm>
            <a:custGeom>
              <a:avLst/>
              <a:gdLst/>
              <a:ahLst/>
              <a:cxnLst/>
              <a:rect r="r" b="b" t="t" l="l"/>
              <a:pathLst>
                <a:path h="2396490" w="10744962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10597515" y="0"/>
                  </a:lnTo>
                  <a:cubicBezTo>
                    <a:pt x="10678922" y="0"/>
                    <a:pt x="10744962" y="66040"/>
                    <a:pt x="10744962" y="147447"/>
                  </a:cubicBezTo>
                  <a:lnTo>
                    <a:pt x="10744962" y="2249043"/>
                  </a:lnTo>
                  <a:cubicBezTo>
                    <a:pt x="10744962" y="2330450"/>
                    <a:pt x="10678922" y="2396490"/>
                    <a:pt x="10597515" y="2396490"/>
                  </a:cubicBezTo>
                  <a:lnTo>
                    <a:pt x="147447" y="2396490"/>
                  </a:lnTo>
                  <a:cubicBezTo>
                    <a:pt x="66040" y="2396490"/>
                    <a:pt x="0" y="2330450"/>
                    <a:pt x="0" y="2249043"/>
                  </a:cubicBezTo>
                  <a:close/>
                </a:path>
              </a:pathLst>
            </a:custGeom>
            <a:solidFill>
              <a:srgbClr val="D4EDF4"/>
            </a:solidFill>
            <a:ln w="14288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9758934" y="7406640"/>
            <a:ext cx="7358634" cy="411480"/>
            <a:chOff x="0" y="0"/>
            <a:chExt cx="9811512" cy="5486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811512" cy="548640"/>
            </a:xfrm>
            <a:custGeom>
              <a:avLst/>
              <a:gdLst/>
              <a:ahLst/>
              <a:cxnLst/>
              <a:rect r="r" b="b" t="t" l="l"/>
              <a:pathLst>
                <a:path h="548640" w="9811512">
                  <a:moveTo>
                    <a:pt x="0" y="0"/>
                  </a:moveTo>
                  <a:lnTo>
                    <a:pt x="9811512" y="0"/>
                  </a:lnTo>
                  <a:lnTo>
                    <a:pt x="9811512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8457" r="0" b="-298457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9811512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Visuals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9758934" y="7896225"/>
            <a:ext cx="7358634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2A2E30"/>
                </a:solidFill>
                <a:latin typeface="Radley"/>
                <a:ea typeface="Radley"/>
                <a:cs typeface="Radley"/>
                <a:sym typeface="Radley"/>
              </a:rPr>
              <a:t>Actual vs Budget • variance • achievement KPI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45C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390650"/>
            <a:chOff x="0" y="0"/>
            <a:chExt cx="24408790" cy="1854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1854200"/>
            </a:xfrm>
            <a:custGeom>
              <a:avLst/>
              <a:gdLst/>
              <a:ahLst/>
              <a:cxnLst/>
              <a:rect r="r" b="b" t="t" l="l"/>
              <a:pathLst>
                <a:path h="18542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854200"/>
                  </a:lnTo>
                  <a:lnTo>
                    <a:pt x="0" y="1854200"/>
                  </a:lnTo>
                  <a:close/>
                </a:path>
              </a:pathLst>
            </a:custGeom>
            <a:solidFill>
              <a:srgbClr val="FF9E7A"/>
            </a:solidFill>
            <a:ln w="19050" cap="sq">
              <a:solidFill>
                <a:srgbClr val="162746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0"/>
            <a:ext cx="14401800" cy="1371600"/>
            <a:chOff x="0" y="0"/>
            <a:chExt cx="19202400" cy="1828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2024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592" r="0" b="-15459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9202400" cy="1828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spc="-84">
                  <a:solidFill>
                    <a:srgbClr val="345C72"/>
                  </a:solidFill>
                  <a:latin typeface="Arsenal"/>
                  <a:ea typeface="Arsenal"/>
                  <a:cs typeface="Arsenal"/>
                  <a:sym typeface="Arsenal"/>
                </a:rPr>
                <a:t>10. Key Findings from the Dashboard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088868" y="0"/>
            <a:ext cx="1371600" cy="1371600"/>
            <a:chOff x="0" y="0"/>
            <a:chExt cx="1828800" cy="1828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1828800" cy="1828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520"/>
                </a:lnSpc>
              </a:pPr>
              <a:r>
                <a:rPr lang="en-US" sz="210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11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1508760"/>
            <a:ext cx="16637508" cy="480060"/>
            <a:chOff x="0" y="0"/>
            <a:chExt cx="22183344" cy="6400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183344" cy="640080"/>
            </a:xfrm>
            <a:custGeom>
              <a:avLst/>
              <a:gdLst/>
              <a:ahLst/>
              <a:cxnLst/>
              <a:rect r="r" b="b" t="t" l="l"/>
              <a:pathLst>
                <a:path h="640080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5295" r="0" b="-62529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22183344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Radley"/>
                  <a:ea typeface="Radley"/>
                  <a:cs typeface="Radley"/>
                  <a:sym typeface="Radley"/>
                </a:rPr>
                <a:t>Use the live PBIX values to state the exact winners, gaps and percentages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22960" y="9642348"/>
            <a:ext cx="10972800" cy="411480"/>
            <a:chOff x="0" y="0"/>
            <a:chExt cx="14630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4630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FFFFFF"/>
                  </a:solidFill>
                  <a:latin typeface="Radley"/>
                  <a:ea typeface="Radley"/>
                  <a:cs typeface="Radley"/>
                  <a:sym typeface="Radley"/>
                </a:rPr>
                <a:t>Power BI Sales Intelligence Dashboard • Presentation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15816" y="2255996"/>
            <a:ext cx="16651796" cy="1042988"/>
            <a:chOff x="0" y="0"/>
            <a:chExt cx="22202394" cy="13906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202395" cy="1390650"/>
            </a:xfrm>
            <a:custGeom>
              <a:avLst/>
              <a:gdLst/>
              <a:ahLst/>
              <a:cxnLst/>
              <a:rect r="r" b="b" t="t" l="l"/>
              <a:pathLst>
                <a:path h="1390650" w="22202395">
                  <a:moveTo>
                    <a:pt x="0" y="148336"/>
                  </a:moveTo>
                  <a:cubicBezTo>
                    <a:pt x="0" y="66421"/>
                    <a:pt x="66421" y="0"/>
                    <a:pt x="148336" y="0"/>
                  </a:cubicBezTo>
                  <a:lnTo>
                    <a:pt x="22054058" y="0"/>
                  </a:lnTo>
                  <a:cubicBezTo>
                    <a:pt x="22135973" y="0"/>
                    <a:pt x="22202395" y="66421"/>
                    <a:pt x="22202395" y="148336"/>
                  </a:cubicBezTo>
                  <a:lnTo>
                    <a:pt x="22202395" y="1242314"/>
                  </a:lnTo>
                  <a:cubicBezTo>
                    <a:pt x="22202395" y="1324229"/>
                    <a:pt x="22135973" y="1390650"/>
                    <a:pt x="22054058" y="1390650"/>
                  </a:cubicBezTo>
                  <a:lnTo>
                    <a:pt x="148336" y="1390650"/>
                  </a:lnTo>
                  <a:cubicBezTo>
                    <a:pt x="66421" y="1390650"/>
                    <a:pt x="0" y="1324229"/>
                    <a:pt x="0" y="1242314"/>
                  </a:cubicBezTo>
                  <a:close/>
                </a:path>
              </a:pathLst>
            </a:custGeom>
            <a:solidFill>
              <a:srgbClr val="D4EDF4"/>
            </a:solidFill>
            <a:ln w="14288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156335" y="2390775"/>
            <a:ext cx="773430" cy="773430"/>
            <a:chOff x="0" y="0"/>
            <a:chExt cx="1031240" cy="10312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31240" cy="1031240"/>
            </a:xfrm>
            <a:custGeom>
              <a:avLst/>
              <a:gdLst/>
              <a:ahLst/>
              <a:cxnLst/>
              <a:rect r="r" b="b" t="t" l="l"/>
              <a:pathLst>
                <a:path h="1031240" w="1031240">
                  <a:moveTo>
                    <a:pt x="0" y="515620"/>
                  </a:moveTo>
                  <a:cubicBezTo>
                    <a:pt x="0" y="230886"/>
                    <a:pt x="230886" y="0"/>
                    <a:pt x="515620" y="0"/>
                  </a:cubicBezTo>
                  <a:cubicBezTo>
                    <a:pt x="800354" y="0"/>
                    <a:pt x="1031240" y="230886"/>
                    <a:pt x="1031240" y="515620"/>
                  </a:cubicBezTo>
                  <a:cubicBezTo>
                    <a:pt x="1031240" y="800354"/>
                    <a:pt x="800354" y="1031240"/>
                    <a:pt x="515620" y="1031240"/>
                  </a:cubicBezTo>
                  <a:cubicBezTo>
                    <a:pt x="230886" y="1031240"/>
                    <a:pt x="0" y="800354"/>
                    <a:pt x="0" y="515620"/>
                  </a:cubicBezTo>
                  <a:close/>
                </a:path>
              </a:pathLst>
            </a:custGeom>
            <a:solidFill>
              <a:srgbClr val="F46530"/>
            </a:solidFill>
            <a:ln w="19050" cap="sq">
              <a:solidFill>
                <a:srgbClr val="2A69AA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165860" y="2400300"/>
            <a:ext cx="754380" cy="754380"/>
            <a:chOff x="0" y="0"/>
            <a:chExt cx="1005840" cy="10058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9525"/>
              <a:ext cx="1005840" cy="9963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Radley"/>
                  <a:ea typeface="Radley"/>
                  <a:cs typeface="Radley"/>
                  <a:sym typeface="Radley"/>
                </a:rPr>
                <a:t>1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331720" y="2263140"/>
            <a:ext cx="2606040" cy="1028700"/>
            <a:chOff x="0" y="0"/>
            <a:chExt cx="3474720" cy="13716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474720" cy="1371600"/>
            </a:xfrm>
            <a:custGeom>
              <a:avLst/>
              <a:gdLst/>
              <a:ahLst/>
              <a:cxnLst/>
              <a:rect r="r" b="b" t="t" l="l"/>
              <a:pathLst>
                <a:path h="137160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6" t="0" r="-646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3474720" cy="1371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Performance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074920" y="2263140"/>
            <a:ext cx="12070080" cy="1028700"/>
            <a:chOff x="0" y="0"/>
            <a:chExt cx="16093440" cy="13716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6093439" cy="1371600"/>
            </a:xfrm>
            <a:custGeom>
              <a:avLst/>
              <a:gdLst/>
              <a:ahLst/>
              <a:cxnLst/>
              <a:rect r="r" b="b" t="t" l="l"/>
              <a:pathLst>
                <a:path h="1371600" w="16093439">
                  <a:moveTo>
                    <a:pt x="0" y="0"/>
                  </a:moveTo>
                  <a:lnTo>
                    <a:pt x="16093439" y="0"/>
                  </a:lnTo>
                  <a:lnTo>
                    <a:pt x="16093439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624" r="0" b="-178624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16093440" cy="1371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Executive KPIs provide a centralized view of sales, profit, orders, quantity, margin and budget achievement.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15816" y="3490436"/>
            <a:ext cx="16651796" cy="1042988"/>
            <a:chOff x="0" y="0"/>
            <a:chExt cx="22202394" cy="139065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2202395" cy="1390650"/>
            </a:xfrm>
            <a:custGeom>
              <a:avLst/>
              <a:gdLst/>
              <a:ahLst/>
              <a:cxnLst/>
              <a:rect r="r" b="b" t="t" l="l"/>
              <a:pathLst>
                <a:path h="1390650" w="22202395">
                  <a:moveTo>
                    <a:pt x="0" y="148336"/>
                  </a:moveTo>
                  <a:cubicBezTo>
                    <a:pt x="0" y="66421"/>
                    <a:pt x="66421" y="0"/>
                    <a:pt x="148336" y="0"/>
                  </a:cubicBezTo>
                  <a:lnTo>
                    <a:pt x="22054058" y="0"/>
                  </a:lnTo>
                  <a:cubicBezTo>
                    <a:pt x="22135973" y="0"/>
                    <a:pt x="22202395" y="66421"/>
                    <a:pt x="22202395" y="148336"/>
                  </a:cubicBezTo>
                  <a:lnTo>
                    <a:pt x="22202395" y="1242314"/>
                  </a:lnTo>
                  <a:cubicBezTo>
                    <a:pt x="22202395" y="1324229"/>
                    <a:pt x="22135973" y="1390650"/>
                    <a:pt x="22054058" y="1390650"/>
                  </a:cubicBezTo>
                  <a:lnTo>
                    <a:pt x="148336" y="1390650"/>
                  </a:lnTo>
                  <a:cubicBezTo>
                    <a:pt x="66421" y="1390650"/>
                    <a:pt x="0" y="1324229"/>
                    <a:pt x="0" y="1242314"/>
                  </a:cubicBezTo>
                  <a:close/>
                </a:path>
              </a:pathLst>
            </a:custGeom>
            <a:solidFill>
              <a:srgbClr val="D4EDF4"/>
            </a:solidFill>
            <a:ln w="14288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156335" y="3625215"/>
            <a:ext cx="773430" cy="773430"/>
            <a:chOff x="0" y="0"/>
            <a:chExt cx="1031240" cy="10312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31240" cy="1031240"/>
            </a:xfrm>
            <a:custGeom>
              <a:avLst/>
              <a:gdLst/>
              <a:ahLst/>
              <a:cxnLst/>
              <a:rect r="r" b="b" t="t" l="l"/>
              <a:pathLst>
                <a:path h="1031240" w="1031240">
                  <a:moveTo>
                    <a:pt x="0" y="515620"/>
                  </a:moveTo>
                  <a:cubicBezTo>
                    <a:pt x="0" y="230886"/>
                    <a:pt x="230886" y="0"/>
                    <a:pt x="515620" y="0"/>
                  </a:cubicBezTo>
                  <a:cubicBezTo>
                    <a:pt x="800354" y="0"/>
                    <a:pt x="1031240" y="230886"/>
                    <a:pt x="1031240" y="515620"/>
                  </a:cubicBezTo>
                  <a:cubicBezTo>
                    <a:pt x="1031240" y="800354"/>
                    <a:pt x="800354" y="1031240"/>
                    <a:pt x="515620" y="1031240"/>
                  </a:cubicBezTo>
                  <a:cubicBezTo>
                    <a:pt x="230886" y="1031240"/>
                    <a:pt x="0" y="800354"/>
                    <a:pt x="0" y="515620"/>
                  </a:cubicBezTo>
                  <a:close/>
                </a:path>
              </a:pathLst>
            </a:custGeom>
            <a:solidFill>
              <a:srgbClr val="F46530"/>
            </a:solidFill>
            <a:ln w="19050" cap="sq">
              <a:solidFill>
                <a:srgbClr val="2A69AA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165860" y="3634740"/>
            <a:ext cx="754380" cy="754380"/>
            <a:chOff x="0" y="0"/>
            <a:chExt cx="1005840" cy="10058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9525"/>
              <a:ext cx="1005840" cy="9963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Radley"/>
                  <a:ea typeface="Radley"/>
                  <a:cs typeface="Radley"/>
                  <a:sym typeface="Radley"/>
                </a:rPr>
                <a:t>2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2331720" y="3497580"/>
            <a:ext cx="2606040" cy="1028700"/>
            <a:chOff x="0" y="0"/>
            <a:chExt cx="3474720" cy="13716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474720" cy="1371600"/>
            </a:xfrm>
            <a:custGeom>
              <a:avLst/>
              <a:gdLst/>
              <a:ahLst/>
              <a:cxnLst/>
              <a:rect r="r" b="b" t="t" l="l"/>
              <a:pathLst>
                <a:path h="137160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6" t="0" r="-646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3474720" cy="1371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Growth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5074920" y="3497580"/>
            <a:ext cx="12070080" cy="1028700"/>
            <a:chOff x="0" y="0"/>
            <a:chExt cx="16093440" cy="13716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6093439" cy="1371600"/>
            </a:xfrm>
            <a:custGeom>
              <a:avLst/>
              <a:gdLst/>
              <a:ahLst/>
              <a:cxnLst/>
              <a:rect r="r" b="b" t="t" l="l"/>
              <a:pathLst>
                <a:path h="1371600" w="16093439">
                  <a:moveTo>
                    <a:pt x="0" y="0"/>
                  </a:moveTo>
                  <a:lnTo>
                    <a:pt x="16093439" y="0"/>
                  </a:lnTo>
                  <a:lnTo>
                    <a:pt x="16093439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624" r="0" b="-178624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16093440" cy="1371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Year/month/quarter trend views reveal the direction of sales and support YoY comparisons.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815816" y="4724876"/>
            <a:ext cx="16651796" cy="1042988"/>
            <a:chOff x="0" y="0"/>
            <a:chExt cx="22202394" cy="139065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2202395" cy="1390650"/>
            </a:xfrm>
            <a:custGeom>
              <a:avLst/>
              <a:gdLst/>
              <a:ahLst/>
              <a:cxnLst/>
              <a:rect r="r" b="b" t="t" l="l"/>
              <a:pathLst>
                <a:path h="1390650" w="22202395">
                  <a:moveTo>
                    <a:pt x="0" y="148336"/>
                  </a:moveTo>
                  <a:cubicBezTo>
                    <a:pt x="0" y="66421"/>
                    <a:pt x="66421" y="0"/>
                    <a:pt x="148336" y="0"/>
                  </a:cubicBezTo>
                  <a:lnTo>
                    <a:pt x="22054058" y="0"/>
                  </a:lnTo>
                  <a:cubicBezTo>
                    <a:pt x="22135973" y="0"/>
                    <a:pt x="22202395" y="66421"/>
                    <a:pt x="22202395" y="148336"/>
                  </a:cubicBezTo>
                  <a:lnTo>
                    <a:pt x="22202395" y="1242314"/>
                  </a:lnTo>
                  <a:cubicBezTo>
                    <a:pt x="22202395" y="1324229"/>
                    <a:pt x="22135973" y="1390650"/>
                    <a:pt x="22054058" y="1390650"/>
                  </a:cubicBezTo>
                  <a:lnTo>
                    <a:pt x="148336" y="1390650"/>
                  </a:lnTo>
                  <a:cubicBezTo>
                    <a:pt x="66421" y="1390650"/>
                    <a:pt x="0" y="1324229"/>
                    <a:pt x="0" y="1242314"/>
                  </a:cubicBezTo>
                  <a:close/>
                </a:path>
              </a:pathLst>
            </a:custGeom>
            <a:solidFill>
              <a:srgbClr val="D4EDF4"/>
            </a:solidFill>
            <a:ln w="14288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156335" y="4859655"/>
            <a:ext cx="773430" cy="773430"/>
            <a:chOff x="0" y="0"/>
            <a:chExt cx="1031240" cy="10312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31240" cy="1031240"/>
            </a:xfrm>
            <a:custGeom>
              <a:avLst/>
              <a:gdLst/>
              <a:ahLst/>
              <a:cxnLst/>
              <a:rect r="r" b="b" t="t" l="l"/>
              <a:pathLst>
                <a:path h="1031240" w="1031240">
                  <a:moveTo>
                    <a:pt x="0" y="515620"/>
                  </a:moveTo>
                  <a:cubicBezTo>
                    <a:pt x="0" y="230886"/>
                    <a:pt x="230886" y="0"/>
                    <a:pt x="515620" y="0"/>
                  </a:cubicBezTo>
                  <a:cubicBezTo>
                    <a:pt x="800354" y="0"/>
                    <a:pt x="1031240" y="230886"/>
                    <a:pt x="1031240" y="515620"/>
                  </a:cubicBezTo>
                  <a:cubicBezTo>
                    <a:pt x="1031240" y="800354"/>
                    <a:pt x="800354" y="1031240"/>
                    <a:pt x="515620" y="1031240"/>
                  </a:cubicBezTo>
                  <a:cubicBezTo>
                    <a:pt x="230886" y="1031240"/>
                    <a:pt x="0" y="800354"/>
                    <a:pt x="0" y="515620"/>
                  </a:cubicBezTo>
                  <a:close/>
                </a:path>
              </a:pathLst>
            </a:custGeom>
            <a:solidFill>
              <a:srgbClr val="F46530"/>
            </a:solidFill>
            <a:ln w="19050" cap="sq">
              <a:solidFill>
                <a:srgbClr val="2A69AA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1165860" y="4869180"/>
            <a:ext cx="754380" cy="754380"/>
            <a:chOff x="0" y="0"/>
            <a:chExt cx="1005840" cy="10058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9525"/>
              <a:ext cx="1005840" cy="9963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Radley"/>
                  <a:ea typeface="Radley"/>
                  <a:cs typeface="Radley"/>
                  <a:sym typeface="Radley"/>
                </a:rPr>
                <a:t>3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2331720" y="4732020"/>
            <a:ext cx="2606040" cy="1028700"/>
            <a:chOff x="0" y="0"/>
            <a:chExt cx="3474720" cy="13716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474720" cy="1371600"/>
            </a:xfrm>
            <a:custGeom>
              <a:avLst/>
              <a:gdLst/>
              <a:ahLst/>
              <a:cxnLst/>
              <a:rect r="r" b="b" t="t" l="l"/>
              <a:pathLst>
                <a:path h="137160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6" t="0" r="-646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3474720" cy="1371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Drivers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5074920" y="4732020"/>
            <a:ext cx="12070080" cy="1028700"/>
            <a:chOff x="0" y="0"/>
            <a:chExt cx="16093440" cy="13716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6093439" cy="1371600"/>
            </a:xfrm>
            <a:custGeom>
              <a:avLst/>
              <a:gdLst/>
              <a:ahLst/>
              <a:cxnLst/>
              <a:rect r="r" b="b" t="t" l="l"/>
              <a:pathLst>
                <a:path h="1371600" w="16093439">
                  <a:moveTo>
                    <a:pt x="0" y="0"/>
                  </a:moveTo>
                  <a:lnTo>
                    <a:pt x="16093439" y="0"/>
                  </a:lnTo>
                  <a:lnTo>
                    <a:pt x="16093439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624" r="0" b="-178624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16093440" cy="1371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Product, customer and salesperson pages make revenue and profitability contributors visible.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815816" y="5959316"/>
            <a:ext cx="16651796" cy="1042988"/>
            <a:chOff x="0" y="0"/>
            <a:chExt cx="22202394" cy="139065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2202395" cy="1390650"/>
            </a:xfrm>
            <a:custGeom>
              <a:avLst/>
              <a:gdLst/>
              <a:ahLst/>
              <a:cxnLst/>
              <a:rect r="r" b="b" t="t" l="l"/>
              <a:pathLst>
                <a:path h="1390650" w="22202395">
                  <a:moveTo>
                    <a:pt x="0" y="148336"/>
                  </a:moveTo>
                  <a:cubicBezTo>
                    <a:pt x="0" y="66421"/>
                    <a:pt x="66421" y="0"/>
                    <a:pt x="148336" y="0"/>
                  </a:cubicBezTo>
                  <a:lnTo>
                    <a:pt x="22054058" y="0"/>
                  </a:lnTo>
                  <a:cubicBezTo>
                    <a:pt x="22135973" y="0"/>
                    <a:pt x="22202395" y="66421"/>
                    <a:pt x="22202395" y="148336"/>
                  </a:cubicBezTo>
                  <a:lnTo>
                    <a:pt x="22202395" y="1242314"/>
                  </a:lnTo>
                  <a:cubicBezTo>
                    <a:pt x="22202395" y="1324229"/>
                    <a:pt x="22135973" y="1390650"/>
                    <a:pt x="22054058" y="1390650"/>
                  </a:cubicBezTo>
                  <a:lnTo>
                    <a:pt x="148336" y="1390650"/>
                  </a:lnTo>
                  <a:cubicBezTo>
                    <a:pt x="66421" y="1390650"/>
                    <a:pt x="0" y="1324229"/>
                    <a:pt x="0" y="1242314"/>
                  </a:cubicBezTo>
                  <a:close/>
                </a:path>
              </a:pathLst>
            </a:custGeom>
            <a:solidFill>
              <a:srgbClr val="D4EDF4"/>
            </a:solidFill>
            <a:ln w="14288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1156335" y="6094095"/>
            <a:ext cx="773430" cy="773430"/>
            <a:chOff x="0" y="0"/>
            <a:chExt cx="1031240" cy="10312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31240" cy="1031240"/>
            </a:xfrm>
            <a:custGeom>
              <a:avLst/>
              <a:gdLst/>
              <a:ahLst/>
              <a:cxnLst/>
              <a:rect r="r" b="b" t="t" l="l"/>
              <a:pathLst>
                <a:path h="1031240" w="1031240">
                  <a:moveTo>
                    <a:pt x="0" y="515620"/>
                  </a:moveTo>
                  <a:cubicBezTo>
                    <a:pt x="0" y="230886"/>
                    <a:pt x="230886" y="0"/>
                    <a:pt x="515620" y="0"/>
                  </a:cubicBezTo>
                  <a:cubicBezTo>
                    <a:pt x="800354" y="0"/>
                    <a:pt x="1031240" y="230886"/>
                    <a:pt x="1031240" y="515620"/>
                  </a:cubicBezTo>
                  <a:cubicBezTo>
                    <a:pt x="1031240" y="800354"/>
                    <a:pt x="800354" y="1031240"/>
                    <a:pt x="515620" y="1031240"/>
                  </a:cubicBezTo>
                  <a:cubicBezTo>
                    <a:pt x="230886" y="1031240"/>
                    <a:pt x="0" y="800354"/>
                    <a:pt x="0" y="515620"/>
                  </a:cubicBezTo>
                  <a:close/>
                </a:path>
              </a:pathLst>
            </a:custGeom>
            <a:solidFill>
              <a:srgbClr val="F46530"/>
            </a:solidFill>
            <a:ln w="19050" cap="sq">
              <a:solidFill>
                <a:srgbClr val="2A69AA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1165860" y="6103620"/>
            <a:ext cx="754380" cy="754380"/>
            <a:chOff x="0" y="0"/>
            <a:chExt cx="1005840" cy="10058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9525"/>
              <a:ext cx="1005840" cy="9963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Radley"/>
                  <a:ea typeface="Radley"/>
                  <a:cs typeface="Radley"/>
                  <a:sym typeface="Radley"/>
                </a:rPr>
                <a:t>4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2331720" y="5966460"/>
            <a:ext cx="2606040" cy="1028700"/>
            <a:chOff x="0" y="0"/>
            <a:chExt cx="3474720" cy="13716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474720" cy="1371600"/>
            </a:xfrm>
            <a:custGeom>
              <a:avLst/>
              <a:gdLst/>
              <a:ahLst/>
              <a:cxnLst/>
              <a:rect r="r" b="b" t="t" l="l"/>
              <a:pathLst>
                <a:path h="137160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6" t="0" r="-646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3474720" cy="1371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Geography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5074920" y="5966460"/>
            <a:ext cx="12070080" cy="1028700"/>
            <a:chOff x="0" y="0"/>
            <a:chExt cx="16093440" cy="13716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6093439" cy="1371600"/>
            </a:xfrm>
            <a:custGeom>
              <a:avLst/>
              <a:gdLst/>
              <a:ahLst/>
              <a:cxnLst/>
              <a:rect r="r" b="b" t="t" l="l"/>
              <a:pathLst>
                <a:path h="1371600" w="16093439">
                  <a:moveTo>
                    <a:pt x="0" y="0"/>
                  </a:moveTo>
                  <a:lnTo>
                    <a:pt x="16093439" y="0"/>
                  </a:lnTo>
                  <a:lnTo>
                    <a:pt x="16093439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624" r="0" b="-178624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16093440" cy="1371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State and location analysis highlights where sales are concentrated and where lower performance should be investigated.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815816" y="7193756"/>
            <a:ext cx="16651796" cy="1042988"/>
            <a:chOff x="0" y="0"/>
            <a:chExt cx="22202394" cy="139065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2202395" cy="1390650"/>
            </a:xfrm>
            <a:custGeom>
              <a:avLst/>
              <a:gdLst/>
              <a:ahLst/>
              <a:cxnLst/>
              <a:rect r="r" b="b" t="t" l="l"/>
              <a:pathLst>
                <a:path h="1390650" w="22202395">
                  <a:moveTo>
                    <a:pt x="0" y="148336"/>
                  </a:moveTo>
                  <a:cubicBezTo>
                    <a:pt x="0" y="66421"/>
                    <a:pt x="66421" y="0"/>
                    <a:pt x="148336" y="0"/>
                  </a:cubicBezTo>
                  <a:lnTo>
                    <a:pt x="22054058" y="0"/>
                  </a:lnTo>
                  <a:cubicBezTo>
                    <a:pt x="22135973" y="0"/>
                    <a:pt x="22202395" y="66421"/>
                    <a:pt x="22202395" y="148336"/>
                  </a:cubicBezTo>
                  <a:lnTo>
                    <a:pt x="22202395" y="1242314"/>
                  </a:lnTo>
                  <a:cubicBezTo>
                    <a:pt x="22202395" y="1324229"/>
                    <a:pt x="22135973" y="1390650"/>
                    <a:pt x="22054058" y="1390650"/>
                  </a:cubicBezTo>
                  <a:lnTo>
                    <a:pt x="148336" y="1390650"/>
                  </a:lnTo>
                  <a:cubicBezTo>
                    <a:pt x="66421" y="1390650"/>
                    <a:pt x="0" y="1324229"/>
                    <a:pt x="0" y="1242314"/>
                  </a:cubicBezTo>
                  <a:close/>
                </a:path>
              </a:pathLst>
            </a:custGeom>
            <a:solidFill>
              <a:srgbClr val="D4EDF4"/>
            </a:solidFill>
            <a:ln w="14288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1156335" y="7328535"/>
            <a:ext cx="773430" cy="773430"/>
            <a:chOff x="0" y="0"/>
            <a:chExt cx="1031240" cy="103124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031240" cy="1031240"/>
            </a:xfrm>
            <a:custGeom>
              <a:avLst/>
              <a:gdLst/>
              <a:ahLst/>
              <a:cxnLst/>
              <a:rect r="r" b="b" t="t" l="l"/>
              <a:pathLst>
                <a:path h="1031240" w="1031240">
                  <a:moveTo>
                    <a:pt x="0" y="515620"/>
                  </a:moveTo>
                  <a:cubicBezTo>
                    <a:pt x="0" y="230886"/>
                    <a:pt x="230886" y="0"/>
                    <a:pt x="515620" y="0"/>
                  </a:cubicBezTo>
                  <a:cubicBezTo>
                    <a:pt x="800354" y="0"/>
                    <a:pt x="1031240" y="230886"/>
                    <a:pt x="1031240" y="515620"/>
                  </a:cubicBezTo>
                  <a:cubicBezTo>
                    <a:pt x="1031240" y="800354"/>
                    <a:pt x="800354" y="1031240"/>
                    <a:pt x="515620" y="1031240"/>
                  </a:cubicBezTo>
                  <a:cubicBezTo>
                    <a:pt x="230886" y="1031240"/>
                    <a:pt x="0" y="800354"/>
                    <a:pt x="0" y="515620"/>
                  </a:cubicBezTo>
                  <a:close/>
                </a:path>
              </a:pathLst>
            </a:custGeom>
            <a:solidFill>
              <a:srgbClr val="F46530"/>
            </a:solidFill>
            <a:ln w="19050" cap="sq">
              <a:solidFill>
                <a:srgbClr val="2A69AA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1165860" y="7338060"/>
            <a:ext cx="754380" cy="754380"/>
            <a:chOff x="0" y="0"/>
            <a:chExt cx="1005840" cy="100584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9525"/>
              <a:ext cx="1005840" cy="9963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Radley"/>
                  <a:ea typeface="Radley"/>
                  <a:cs typeface="Radley"/>
                  <a:sym typeface="Radley"/>
                </a:rPr>
                <a:t>5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2331720" y="7200900"/>
            <a:ext cx="2606040" cy="1028700"/>
            <a:chOff x="0" y="0"/>
            <a:chExt cx="3474720" cy="13716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474720" cy="1371600"/>
            </a:xfrm>
            <a:custGeom>
              <a:avLst/>
              <a:gdLst/>
              <a:ahLst/>
              <a:cxnLst/>
              <a:rect r="r" b="b" t="t" l="l"/>
              <a:pathLst>
                <a:path h="137160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6" t="0" r="-646" b="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0"/>
              <a:ext cx="3474720" cy="1371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Budget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5074920" y="7200900"/>
            <a:ext cx="12070080" cy="1028700"/>
            <a:chOff x="0" y="0"/>
            <a:chExt cx="16093440" cy="137160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6093439" cy="1371600"/>
            </a:xfrm>
            <a:custGeom>
              <a:avLst/>
              <a:gdLst/>
              <a:ahLst/>
              <a:cxnLst/>
              <a:rect r="r" b="b" t="t" l="l"/>
              <a:pathLst>
                <a:path h="1371600" w="16093439">
                  <a:moveTo>
                    <a:pt x="0" y="0"/>
                  </a:moveTo>
                  <a:lnTo>
                    <a:pt x="16093439" y="0"/>
                  </a:lnTo>
                  <a:lnTo>
                    <a:pt x="16093439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624" r="0" b="-178624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0"/>
              <a:ext cx="16093440" cy="1371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Actual-vs-budget analysis shows whether expected revenue is being achieved and where variance requires attention.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822960" y="8641080"/>
            <a:ext cx="16637508" cy="617220"/>
            <a:chOff x="0" y="0"/>
            <a:chExt cx="22183344" cy="82296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22183344" cy="822960"/>
            </a:xfrm>
            <a:custGeom>
              <a:avLst/>
              <a:gdLst/>
              <a:ahLst/>
              <a:cxnLst/>
              <a:rect r="r" b="b" t="t" l="l"/>
              <a:pathLst>
                <a:path h="822960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5230" r="0" b="-475230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9525"/>
              <a:ext cx="22183344" cy="832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FFFFFF"/>
                  </a:solidFill>
                  <a:latin typeface="Radley"/>
                  <a:ea typeface="Radley"/>
                  <a:cs typeface="Radley"/>
                  <a:sym typeface="Radley"/>
                </a:rPr>
                <a:t>Important: replace any qualitative statement with the exact dashboard value when presenting (e.g., highest year, top product, budget achievement %).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390650"/>
            <a:chOff x="0" y="0"/>
            <a:chExt cx="24408790" cy="1854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1854200"/>
            </a:xfrm>
            <a:custGeom>
              <a:avLst/>
              <a:gdLst/>
              <a:ahLst/>
              <a:cxnLst/>
              <a:rect r="r" b="b" t="t" l="l"/>
              <a:pathLst>
                <a:path h="18542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854200"/>
                  </a:lnTo>
                  <a:lnTo>
                    <a:pt x="0" y="1854200"/>
                  </a:lnTo>
                  <a:close/>
                </a:path>
              </a:pathLst>
            </a:custGeom>
            <a:solidFill>
              <a:srgbClr val="2A2E30"/>
            </a:solidFill>
            <a:ln w="19050" cap="sq">
              <a:solidFill>
                <a:srgbClr val="162746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0"/>
            <a:ext cx="14401800" cy="1371600"/>
            <a:chOff x="0" y="0"/>
            <a:chExt cx="19202400" cy="1828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2024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592" r="0" b="-15459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9202400" cy="1828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spc="-84">
                  <a:solidFill>
                    <a:srgbClr val="FFFFFF"/>
                  </a:solidFill>
                  <a:latin typeface="Arsenal"/>
                  <a:ea typeface="Arsenal"/>
                  <a:cs typeface="Arsenal"/>
                  <a:sym typeface="Arsenal"/>
                </a:rPr>
                <a:t>11. Business Recommendations &amp; Conclusion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088868" y="0"/>
            <a:ext cx="1371600" cy="1371600"/>
            <a:chOff x="0" y="0"/>
            <a:chExt cx="1828800" cy="1828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1828800" cy="1828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Radley"/>
                  <a:ea typeface="Radley"/>
                  <a:cs typeface="Radley"/>
                  <a:sym typeface="Radley"/>
                </a:rPr>
                <a:t>12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2960" y="1508760"/>
            <a:ext cx="16637508" cy="480060"/>
            <a:chOff x="0" y="0"/>
            <a:chExt cx="22183344" cy="6400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183344" cy="640080"/>
            </a:xfrm>
            <a:custGeom>
              <a:avLst/>
              <a:gdLst/>
              <a:ahLst/>
              <a:cxnLst/>
              <a:rect r="r" b="b" t="t" l="l"/>
              <a:pathLst>
                <a:path h="640080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5295" r="0" b="-62529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22183344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Turning dashboard evidence into management action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22960" y="9642348"/>
            <a:ext cx="10972800" cy="411480"/>
            <a:chOff x="0" y="0"/>
            <a:chExt cx="14630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4630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2A2E30"/>
                  </a:solidFill>
                  <a:latin typeface="Radley"/>
                  <a:ea typeface="Radley"/>
                  <a:cs typeface="Radley"/>
                  <a:sym typeface="Radley"/>
                </a:rPr>
                <a:t>Power BI Sales Intelligence Dashboard • Presentation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15816" y="2255996"/>
            <a:ext cx="16651796" cy="974407"/>
            <a:chOff x="0" y="0"/>
            <a:chExt cx="22202394" cy="129921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202394" cy="1299210"/>
            </a:xfrm>
            <a:custGeom>
              <a:avLst/>
              <a:gdLst/>
              <a:ahLst/>
              <a:cxnLst/>
              <a:rect r="r" b="b" t="t" l="l"/>
              <a:pathLst>
                <a:path h="1299210" w="22202394">
                  <a:moveTo>
                    <a:pt x="0" y="148463"/>
                  </a:moveTo>
                  <a:cubicBezTo>
                    <a:pt x="0" y="66421"/>
                    <a:pt x="66421" y="0"/>
                    <a:pt x="148463" y="0"/>
                  </a:cubicBezTo>
                  <a:lnTo>
                    <a:pt x="22053931" y="0"/>
                  </a:lnTo>
                  <a:cubicBezTo>
                    <a:pt x="22135973" y="0"/>
                    <a:pt x="22202394" y="66421"/>
                    <a:pt x="22202394" y="148463"/>
                  </a:cubicBezTo>
                  <a:lnTo>
                    <a:pt x="22202394" y="1150747"/>
                  </a:lnTo>
                  <a:cubicBezTo>
                    <a:pt x="22202394" y="1232789"/>
                    <a:pt x="22135973" y="1299210"/>
                    <a:pt x="22053931" y="1299210"/>
                  </a:cubicBezTo>
                  <a:lnTo>
                    <a:pt x="148463" y="1299210"/>
                  </a:lnTo>
                  <a:cubicBezTo>
                    <a:pt x="66421" y="1299210"/>
                    <a:pt x="0" y="1232789"/>
                    <a:pt x="0" y="1150747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156335" y="2390775"/>
            <a:ext cx="704850" cy="704850"/>
            <a:chOff x="0" y="0"/>
            <a:chExt cx="939800" cy="939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F46530"/>
            </a:solidFill>
            <a:ln w="19050" cap="sq">
              <a:solidFill>
                <a:srgbClr val="1F8985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165860" y="2400300"/>
            <a:ext cx="685800" cy="685800"/>
            <a:chOff x="0" y="0"/>
            <a:chExt cx="914400" cy="914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9144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>
                  <a:solidFill>
                    <a:srgbClr val="FFFFFF"/>
                  </a:solidFill>
                  <a:latin typeface="Radley"/>
                  <a:ea typeface="Radley"/>
                  <a:cs typeface="Radley"/>
                  <a:sym typeface="Radley"/>
                </a:rPr>
                <a:t>1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94560" y="2263140"/>
            <a:ext cx="4937760" cy="960120"/>
            <a:chOff x="0" y="0"/>
            <a:chExt cx="6583680" cy="12801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5836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208" r="0" b="-50208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658368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345C72"/>
                  </a:solidFill>
                  <a:latin typeface="Radley"/>
                  <a:ea typeface="Radley"/>
                  <a:cs typeface="Radley"/>
                  <a:sym typeface="Radley"/>
                </a:rPr>
                <a:t>Monitor performance continuously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269480" y="2263140"/>
            <a:ext cx="9944100" cy="960120"/>
            <a:chOff x="0" y="0"/>
            <a:chExt cx="13258800" cy="12801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3258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3258800">
                  <a:moveTo>
                    <a:pt x="0" y="0"/>
                  </a:moveTo>
                  <a:lnTo>
                    <a:pt x="13258800" y="0"/>
                  </a:lnTo>
                  <a:lnTo>
                    <a:pt x="13258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1809" r="0" b="-151809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1325880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345C72"/>
                  </a:solidFill>
                  <a:latin typeface="Radley"/>
                  <a:ea typeface="Radley"/>
                  <a:cs typeface="Radley"/>
                  <a:sym typeface="Radley"/>
                </a:rPr>
                <a:t>Use the Executive Overview and KPI cards as a single management starting point.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15816" y="3380708"/>
            <a:ext cx="16651796" cy="974407"/>
            <a:chOff x="0" y="0"/>
            <a:chExt cx="22202394" cy="129921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2202394" cy="1299210"/>
            </a:xfrm>
            <a:custGeom>
              <a:avLst/>
              <a:gdLst/>
              <a:ahLst/>
              <a:cxnLst/>
              <a:rect r="r" b="b" t="t" l="l"/>
              <a:pathLst>
                <a:path h="1299210" w="22202394">
                  <a:moveTo>
                    <a:pt x="0" y="148463"/>
                  </a:moveTo>
                  <a:cubicBezTo>
                    <a:pt x="0" y="66421"/>
                    <a:pt x="66421" y="0"/>
                    <a:pt x="148463" y="0"/>
                  </a:cubicBezTo>
                  <a:lnTo>
                    <a:pt x="22053931" y="0"/>
                  </a:lnTo>
                  <a:cubicBezTo>
                    <a:pt x="22135973" y="0"/>
                    <a:pt x="22202394" y="66421"/>
                    <a:pt x="22202394" y="148463"/>
                  </a:cubicBezTo>
                  <a:lnTo>
                    <a:pt x="22202394" y="1150747"/>
                  </a:lnTo>
                  <a:cubicBezTo>
                    <a:pt x="22202394" y="1232789"/>
                    <a:pt x="22135973" y="1299210"/>
                    <a:pt x="22053931" y="1299210"/>
                  </a:cubicBezTo>
                  <a:lnTo>
                    <a:pt x="148463" y="1299210"/>
                  </a:lnTo>
                  <a:cubicBezTo>
                    <a:pt x="66421" y="1299210"/>
                    <a:pt x="0" y="1232789"/>
                    <a:pt x="0" y="1150747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156335" y="3515487"/>
            <a:ext cx="704850" cy="704850"/>
            <a:chOff x="0" y="0"/>
            <a:chExt cx="939800" cy="939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F46530"/>
            </a:solidFill>
            <a:ln w="19050" cap="sq">
              <a:solidFill>
                <a:srgbClr val="1F8985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165860" y="3525012"/>
            <a:ext cx="685800" cy="685800"/>
            <a:chOff x="0" y="0"/>
            <a:chExt cx="914400" cy="9144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9144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>
                  <a:solidFill>
                    <a:srgbClr val="FFFFFF"/>
                  </a:solidFill>
                  <a:latin typeface="Radley"/>
                  <a:ea typeface="Radley"/>
                  <a:cs typeface="Radley"/>
                  <a:sym typeface="Radley"/>
                </a:rPr>
                <a:t>2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2194560" y="3387852"/>
            <a:ext cx="4937760" cy="960120"/>
            <a:chOff x="0" y="0"/>
            <a:chExt cx="6583680" cy="128016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5836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208" r="0" b="-50208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658368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345C72"/>
                  </a:solidFill>
                  <a:latin typeface="Radley"/>
                  <a:ea typeface="Radley"/>
                  <a:cs typeface="Radley"/>
                  <a:sym typeface="Radley"/>
                </a:rPr>
                <a:t>Focus on profitable growth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7269480" y="3387852"/>
            <a:ext cx="9944100" cy="960120"/>
            <a:chOff x="0" y="0"/>
            <a:chExt cx="13258800" cy="128016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3258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3258800">
                  <a:moveTo>
                    <a:pt x="0" y="0"/>
                  </a:moveTo>
                  <a:lnTo>
                    <a:pt x="13258800" y="0"/>
                  </a:lnTo>
                  <a:lnTo>
                    <a:pt x="13258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1809" r="0" b="-151809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1325880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345C72"/>
                  </a:solidFill>
                  <a:latin typeface="Radley"/>
                  <a:ea typeface="Radley"/>
                  <a:cs typeface="Radley"/>
                  <a:sym typeface="Radley"/>
                </a:rPr>
                <a:t>Review products/customers with strong sales but comparatively weak margins.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815816" y="4505420"/>
            <a:ext cx="16651796" cy="974407"/>
            <a:chOff x="0" y="0"/>
            <a:chExt cx="22202394" cy="129921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2202394" cy="1299210"/>
            </a:xfrm>
            <a:custGeom>
              <a:avLst/>
              <a:gdLst/>
              <a:ahLst/>
              <a:cxnLst/>
              <a:rect r="r" b="b" t="t" l="l"/>
              <a:pathLst>
                <a:path h="1299210" w="22202394">
                  <a:moveTo>
                    <a:pt x="0" y="148463"/>
                  </a:moveTo>
                  <a:cubicBezTo>
                    <a:pt x="0" y="66421"/>
                    <a:pt x="66421" y="0"/>
                    <a:pt x="148463" y="0"/>
                  </a:cubicBezTo>
                  <a:lnTo>
                    <a:pt x="22053931" y="0"/>
                  </a:lnTo>
                  <a:cubicBezTo>
                    <a:pt x="22135973" y="0"/>
                    <a:pt x="22202394" y="66421"/>
                    <a:pt x="22202394" y="148463"/>
                  </a:cubicBezTo>
                  <a:lnTo>
                    <a:pt x="22202394" y="1150747"/>
                  </a:lnTo>
                  <a:cubicBezTo>
                    <a:pt x="22202394" y="1232789"/>
                    <a:pt x="22135973" y="1299210"/>
                    <a:pt x="22053931" y="1299210"/>
                  </a:cubicBezTo>
                  <a:lnTo>
                    <a:pt x="148463" y="1299210"/>
                  </a:lnTo>
                  <a:cubicBezTo>
                    <a:pt x="66421" y="1299210"/>
                    <a:pt x="0" y="1232789"/>
                    <a:pt x="0" y="1150747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156335" y="4640199"/>
            <a:ext cx="704850" cy="704850"/>
            <a:chOff x="0" y="0"/>
            <a:chExt cx="939800" cy="939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F46530"/>
            </a:solidFill>
            <a:ln w="19050" cap="sq">
              <a:solidFill>
                <a:srgbClr val="1F8985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1165860" y="4649724"/>
            <a:ext cx="685800" cy="685800"/>
            <a:chOff x="0" y="0"/>
            <a:chExt cx="914400" cy="9144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"/>
              <a:ext cx="9144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>
                  <a:solidFill>
                    <a:srgbClr val="FFFFFF"/>
                  </a:solidFill>
                  <a:latin typeface="Radley"/>
                  <a:ea typeface="Radley"/>
                  <a:cs typeface="Radley"/>
                  <a:sym typeface="Radley"/>
                </a:rPr>
                <a:t>3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2194560" y="4512564"/>
            <a:ext cx="4937760" cy="960120"/>
            <a:chOff x="0" y="0"/>
            <a:chExt cx="6583680" cy="128016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5836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208" r="0" b="-50208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658368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345C72"/>
                  </a:solidFill>
                  <a:latin typeface="Radley"/>
                  <a:ea typeface="Radley"/>
                  <a:cs typeface="Radley"/>
                  <a:sym typeface="Radley"/>
                </a:rPr>
                <a:t>Investigate geographic gaps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7269480" y="4512564"/>
            <a:ext cx="9944100" cy="960120"/>
            <a:chOff x="0" y="0"/>
            <a:chExt cx="13258800" cy="128016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3258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3258800">
                  <a:moveTo>
                    <a:pt x="0" y="0"/>
                  </a:moveTo>
                  <a:lnTo>
                    <a:pt x="13258800" y="0"/>
                  </a:lnTo>
                  <a:lnTo>
                    <a:pt x="13258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1809" r="0" b="-151809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1325880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345C72"/>
                  </a:solidFill>
                  <a:latin typeface="Radley"/>
                  <a:ea typeface="Radley"/>
                  <a:cs typeface="Radley"/>
                  <a:sym typeface="Radley"/>
                </a:rPr>
                <a:t>Compare low-sales locations with population and other location attributes before expanding resources.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815816" y="5630132"/>
            <a:ext cx="16651796" cy="974407"/>
            <a:chOff x="0" y="0"/>
            <a:chExt cx="22202394" cy="129921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2202394" cy="1299210"/>
            </a:xfrm>
            <a:custGeom>
              <a:avLst/>
              <a:gdLst/>
              <a:ahLst/>
              <a:cxnLst/>
              <a:rect r="r" b="b" t="t" l="l"/>
              <a:pathLst>
                <a:path h="1299210" w="22202394">
                  <a:moveTo>
                    <a:pt x="0" y="148463"/>
                  </a:moveTo>
                  <a:cubicBezTo>
                    <a:pt x="0" y="66421"/>
                    <a:pt x="66421" y="0"/>
                    <a:pt x="148463" y="0"/>
                  </a:cubicBezTo>
                  <a:lnTo>
                    <a:pt x="22053931" y="0"/>
                  </a:lnTo>
                  <a:cubicBezTo>
                    <a:pt x="22135973" y="0"/>
                    <a:pt x="22202394" y="66421"/>
                    <a:pt x="22202394" y="148463"/>
                  </a:cubicBezTo>
                  <a:lnTo>
                    <a:pt x="22202394" y="1150747"/>
                  </a:lnTo>
                  <a:cubicBezTo>
                    <a:pt x="22202394" y="1232789"/>
                    <a:pt x="22135973" y="1299210"/>
                    <a:pt x="22053931" y="1299210"/>
                  </a:cubicBezTo>
                  <a:lnTo>
                    <a:pt x="148463" y="1299210"/>
                  </a:lnTo>
                  <a:cubicBezTo>
                    <a:pt x="66421" y="1299210"/>
                    <a:pt x="0" y="1232789"/>
                    <a:pt x="0" y="1150747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1156335" y="5764911"/>
            <a:ext cx="704850" cy="704850"/>
            <a:chOff x="0" y="0"/>
            <a:chExt cx="939800" cy="9398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F46530"/>
            </a:solidFill>
            <a:ln w="19050" cap="sq">
              <a:solidFill>
                <a:srgbClr val="1F8985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1165860" y="5774436"/>
            <a:ext cx="685800" cy="685800"/>
            <a:chOff x="0" y="0"/>
            <a:chExt cx="914400" cy="9144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9525"/>
              <a:ext cx="9144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>
                  <a:solidFill>
                    <a:srgbClr val="FFFFFF"/>
                  </a:solidFill>
                  <a:latin typeface="Radley"/>
                  <a:ea typeface="Radley"/>
                  <a:cs typeface="Radley"/>
                  <a:sym typeface="Radley"/>
                </a:rPr>
                <a:t>4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2194560" y="5637276"/>
            <a:ext cx="4937760" cy="960120"/>
            <a:chOff x="0" y="0"/>
            <a:chExt cx="6583680" cy="128016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5836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208" r="0" b="-50208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9525"/>
              <a:ext cx="658368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345C72"/>
                  </a:solidFill>
                  <a:latin typeface="Radley"/>
                  <a:ea typeface="Radley"/>
                  <a:cs typeface="Radley"/>
                  <a:sym typeface="Radley"/>
                </a:rPr>
                <a:t>Strengthen budget control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7269480" y="5637276"/>
            <a:ext cx="9944100" cy="960120"/>
            <a:chOff x="0" y="0"/>
            <a:chExt cx="13258800" cy="128016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3258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3258800">
                  <a:moveTo>
                    <a:pt x="0" y="0"/>
                  </a:moveTo>
                  <a:lnTo>
                    <a:pt x="13258800" y="0"/>
                  </a:lnTo>
                  <a:lnTo>
                    <a:pt x="13258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1809" r="0" b="-151809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1325880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345C72"/>
                  </a:solidFill>
                  <a:latin typeface="Radley"/>
                  <a:ea typeface="Radley"/>
                  <a:cs typeface="Radley"/>
                  <a:sym typeface="Radley"/>
                </a:rPr>
                <a:t>Review recurring negative variance by month/location and adjust targets or sales actions.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815816" y="6754844"/>
            <a:ext cx="16651796" cy="974407"/>
            <a:chOff x="0" y="0"/>
            <a:chExt cx="22202394" cy="129921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2202394" cy="1299210"/>
            </a:xfrm>
            <a:custGeom>
              <a:avLst/>
              <a:gdLst/>
              <a:ahLst/>
              <a:cxnLst/>
              <a:rect r="r" b="b" t="t" l="l"/>
              <a:pathLst>
                <a:path h="1299210" w="22202394">
                  <a:moveTo>
                    <a:pt x="0" y="148463"/>
                  </a:moveTo>
                  <a:cubicBezTo>
                    <a:pt x="0" y="66421"/>
                    <a:pt x="66421" y="0"/>
                    <a:pt x="148463" y="0"/>
                  </a:cubicBezTo>
                  <a:lnTo>
                    <a:pt x="22053931" y="0"/>
                  </a:lnTo>
                  <a:cubicBezTo>
                    <a:pt x="22135973" y="0"/>
                    <a:pt x="22202394" y="66421"/>
                    <a:pt x="22202394" y="148463"/>
                  </a:cubicBezTo>
                  <a:lnTo>
                    <a:pt x="22202394" y="1150747"/>
                  </a:lnTo>
                  <a:cubicBezTo>
                    <a:pt x="22202394" y="1232789"/>
                    <a:pt x="22135973" y="1299210"/>
                    <a:pt x="22053931" y="1299210"/>
                  </a:cubicBezTo>
                  <a:lnTo>
                    <a:pt x="148463" y="1299210"/>
                  </a:lnTo>
                  <a:cubicBezTo>
                    <a:pt x="66421" y="1299210"/>
                    <a:pt x="0" y="1232789"/>
                    <a:pt x="0" y="1150747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1156335" y="6889623"/>
            <a:ext cx="704850" cy="704850"/>
            <a:chOff x="0" y="0"/>
            <a:chExt cx="939800" cy="9398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939800" cy="939800"/>
            </a:xfrm>
            <a:custGeom>
              <a:avLst/>
              <a:gdLst/>
              <a:ahLst/>
              <a:cxnLst/>
              <a:rect r="r" b="b" t="t" l="l"/>
              <a:pathLst>
                <a:path h="939800" w="93980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cubicBezTo>
                    <a:pt x="729361" y="0"/>
                    <a:pt x="939800" y="210439"/>
                    <a:pt x="939800" y="469900"/>
                  </a:cubicBezTo>
                  <a:cubicBezTo>
                    <a:pt x="939800" y="729361"/>
                    <a:pt x="729361" y="939800"/>
                    <a:pt x="469900" y="939800"/>
                  </a:cubicBez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F46530"/>
            </a:solidFill>
            <a:ln w="19050" cap="sq">
              <a:solidFill>
                <a:srgbClr val="1F8985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1165860" y="6899148"/>
            <a:ext cx="685800" cy="685800"/>
            <a:chOff x="0" y="0"/>
            <a:chExt cx="914400" cy="9144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9525"/>
              <a:ext cx="9144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>
                  <a:solidFill>
                    <a:srgbClr val="FFFFFF"/>
                  </a:solidFill>
                  <a:latin typeface="Radley"/>
                  <a:ea typeface="Radley"/>
                  <a:cs typeface="Radley"/>
                  <a:sym typeface="Radley"/>
                </a:rPr>
                <a:t>5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2194560" y="6761988"/>
            <a:ext cx="4937760" cy="960120"/>
            <a:chOff x="0" y="0"/>
            <a:chExt cx="6583680" cy="128016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5836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208" r="0" b="-50208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9525"/>
              <a:ext cx="658368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345C72"/>
                  </a:solidFill>
                  <a:latin typeface="Radley"/>
                  <a:ea typeface="Radley"/>
                  <a:cs typeface="Radley"/>
                  <a:sym typeface="Radley"/>
                </a:rPr>
                <a:t>Use performance coaching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7269480" y="6761988"/>
            <a:ext cx="9944100" cy="960120"/>
            <a:chOff x="0" y="0"/>
            <a:chExt cx="13258800" cy="128016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3258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3258800">
                  <a:moveTo>
                    <a:pt x="0" y="0"/>
                  </a:moveTo>
                  <a:lnTo>
                    <a:pt x="13258800" y="0"/>
                  </a:lnTo>
                  <a:lnTo>
                    <a:pt x="13258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1809" r="0" b="-151809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0"/>
              <a:ext cx="13258800" cy="1280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345C72"/>
                  </a:solidFill>
                  <a:latin typeface="Radley"/>
                  <a:ea typeface="Radley"/>
                  <a:cs typeface="Radley"/>
                  <a:sym typeface="Radley"/>
                </a:rPr>
                <a:t>Compare salesperson sales, profit, order volume and YoY movement to identify support needs.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815816" y="8153876"/>
            <a:ext cx="16651796" cy="1180148"/>
            <a:chOff x="0" y="0"/>
            <a:chExt cx="22202394" cy="157353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22202394" cy="1573530"/>
            </a:xfrm>
            <a:custGeom>
              <a:avLst/>
              <a:gdLst/>
              <a:ahLst/>
              <a:cxnLst/>
              <a:rect r="r" b="b" t="t" l="l"/>
              <a:pathLst>
                <a:path h="1573530" w="22202394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22054313" y="0"/>
                  </a:lnTo>
                  <a:cubicBezTo>
                    <a:pt x="22136100" y="0"/>
                    <a:pt x="22202394" y="66294"/>
                    <a:pt x="22202394" y="148082"/>
                  </a:cubicBezTo>
                  <a:lnTo>
                    <a:pt x="22202394" y="1425448"/>
                  </a:lnTo>
                  <a:cubicBezTo>
                    <a:pt x="22202394" y="1507236"/>
                    <a:pt x="22136100" y="1573530"/>
                    <a:pt x="22054313" y="1573530"/>
                  </a:cubicBezTo>
                  <a:lnTo>
                    <a:pt x="148082" y="1573530"/>
                  </a:lnTo>
                  <a:cubicBezTo>
                    <a:pt x="66294" y="1573530"/>
                    <a:pt x="0" y="1507236"/>
                    <a:pt x="0" y="1425448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CE4EF"/>
              </a:solidFill>
              <a:prstDash val="solid"/>
              <a:miter/>
            </a:ln>
          </p:spPr>
        </p:sp>
      </p:grpSp>
      <p:grpSp>
        <p:nvGrpSpPr>
          <p:cNvPr name="Group 83" id="83"/>
          <p:cNvGrpSpPr/>
          <p:nvPr/>
        </p:nvGrpSpPr>
        <p:grpSpPr>
          <a:xfrm rot="0">
            <a:off x="1165860" y="8161020"/>
            <a:ext cx="15951708" cy="1165860"/>
            <a:chOff x="0" y="0"/>
            <a:chExt cx="21268944" cy="155448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1268944" cy="1554480"/>
            </a:xfrm>
            <a:custGeom>
              <a:avLst/>
              <a:gdLst/>
              <a:ahLst/>
              <a:cxnLst/>
              <a:rect r="r" b="b" t="t" l="l"/>
              <a:pathLst>
                <a:path h="1554480" w="21268944">
                  <a:moveTo>
                    <a:pt x="0" y="0"/>
                  </a:moveTo>
                  <a:lnTo>
                    <a:pt x="21268944" y="0"/>
                  </a:lnTo>
                  <a:lnTo>
                    <a:pt x="21268944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6601" r="0" b="-216601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9525"/>
              <a:ext cx="21268944" cy="1564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345C72"/>
                  </a:solidFill>
                  <a:latin typeface="Radley"/>
                  <a:ea typeface="Radley"/>
                  <a:cs typeface="Radley"/>
                  <a:sym typeface="Radley"/>
                </a:rPr>
                <a:t>Conclusion: The Power BI solution connects cleaned data, a star-schema model, DAX measures and interactive visuals to support faster, evidence-based sales decisions.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DAHWfsfV9To</dc:identifier>
  <dcterms:modified xsi:type="dcterms:W3CDTF">2011-08-01T06:04:30Z</dcterms:modified>
  <cp:revision>1</cp:revision>
  <dc:title>Sreya_PowerBI_Dashboard_Presentation_Aligned.pptx</dc:title>
</cp:coreProperties>
</file>